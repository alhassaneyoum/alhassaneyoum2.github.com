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890" autoAdjust="0"/>
    <p:restoredTop sz="94694" autoAdjust="0"/>
  </p:normalViewPr>
  <p:slideViewPr>
    <p:cSldViewPr snapToGrid="0" snapToObjects="1">
      <p:cViewPr varScale="1">
        <p:scale>
          <a:sx n="98" d="100"/>
          <a:sy n="98" d="100"/>
        </p:scale>
        <p:origin x="1051" y="-106"/>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‹N°›</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‹N°›</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‹N°›</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‹N°›</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‹N°›</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‹N°›</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‹N°›</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‹N°›</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‹N°›</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‹N°›</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‹N°›</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241EB5C9-1307-BA42-ABA2-0BC069CD8E7F}" type="datetimeFigureOut">
              <a:rPr lang="en-US" smtClean="0"/>
              <a:t>1/13/2025</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C5EF2332-01BF-834F-8236-50238282D533}" type="slidenum">
              <a:rPr lang="en-US" smtClean="0"/>
              <a:t>‹N°›</a:t>
            </a:fld>
            <a:endParaRPr lang="en-US"/>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342900" indent="-342900" algn="l" defTabSz="342900" rtl="0" eaLnBrk="1" latinLnBrk="0" hangingPunct="1">
        <a:spcBef>
          <a:spcPct val="20000"/>
        </a:spcBef>
        <a:buFont typeface="Arial"/>
        <a:buChar char="•"/>
        <a:defRPr sz="2400" kern="1200">
          <a:solidFill>
            <a:schemeClr val="tx1"/>
          </a:solidFill>
          <a:latin typeface="+mn-lt"/>
          <a:ea typeface="+mn-ea"/>
          <a:cs typeface="+mn-cs"/>
        </a:defRPr>
      </a:lvl1pPr>
      <a:lvl2pPr marL="685800" indent="-342900" algn="l" defTabSz="342900" rtl="0" eaLnBrk="1" latinLnBrk="0" hangingPunct="1">
        <a:spcBef>
          <a:spcPct val="20000"/>
        </a:spcBef>
        <a:buFont typeface="Arial"/>
        <a:buChar char="–"/>
        <a:defRPr sz="2100" kern="1200">
          <a:solidFill>
            <a:schemeClr val="tx1"/>
          </a:solidFill>
          <a:latin typeface="+mn-lt"/>
          <a:ea typeface="+mn-ea"/>
          <a:cs typeface="+mn-cs"/>
        </a:defRPr>
      </a:lvl2pPr>
      <a:lvl3pPr marL="1028700" indent="-34290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371600" indent="-34290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714500" indent="-342900" algn="l" defTabSz="342900" rtl="0" eaLnBrk="1" latinLnBrk="0" hangingPunct="1">
        <a:spcBef>
          <a:spcPct val="20000"/>
        </a:spcBef>
        <a:buFont typeface="Arial"/>
        <a:buChar char="»"/>
        <a:defRPr sz="1500" kern="1200">
          <a:solidFill>
            <a:schemeClr val="tx1"/>
          </a:solidFill>
          <a:latin typeface="+mn-lt"/>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marL="0" lvl="0" indent="0">
              <a:buNone/>
            </a:pPr>
            <a:r>
              <a:t>Projet programmation</a:t>
            </a:r>
          </a:p>
        </p:txBody>
      </p:sp>
      <p:sp>
        <p:nvSpPr>
          <p:cNvPr id="3" name="Subtitle 2"/>
          <p:cNvSpPr>
            <a:spLocks noGrp="1"/>
          </p:cNvSpPr>
          <p:nvPr>
            <p:ph type="subTitle" idx="1"/>
          </p:nvPr>
        </p:nvSpPr>
        <p:spPr>
          <a:xfrm>
            <a:off x="1371600" y="2914650"/>
            <a:ext cx="6400800" cy="1314450"/>
          </a:xfrm>
        </p:spPr>
        <p:txBody>
          <a:bodyPr/>
          <a:lstStyle/>
          <a:p>
            <a:pPr marL="0" lvl="0" indent="0">
              <a:buNone/>
            </a:pPr>
            <a:br/>
            <a:br/>
            <a:r>
              <a:t>AL Hassane YOUM</a:t>
            </a:r>
          </a:p>
        </p:txBody>
      </p:sp>
      <p:sp>
        <p:nvSpPr>
          <p:cNvPr id="4" name="Date Placeholder 3"/>
          <p:cNvSpPr>
            <a:spLocks noGrp="1"/>
          </p:cNvSpPr>
          <p:nvPr>
            <p:ph type="dt" sz="half" idx="10"/>
          </p:nvPr>
        </p:nvSpPr>
        <p:spPr/>
        <p:txBody>
          <a:bodyPr/>
          <a:lstStyle/>
          <a:p>
            <a:pPr marL="0" lvl="0" indent="0">
              <a:buNone/>
            </a:pPr>
            <a:r>
              <a:t>2025-01-13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Intitulé</a:t>
            </a:r>
          </a:p>
        </p:txBody>
      </p:sp>
      <p:sp>
        <p:nvSpPr>
          <p:cNvPr id="3" name="Content Placeholder 2"/>
          <p:cNvSpPr>
            <a:spLocks noGrp="1"/>
          </p:cNvSpPr>
          <p:nvPr>
            <p:ph idx="1"/>
          </p:nvPr>
        </p:nvSpPr>
        <p:spPr/>
        <p:txBody>
          <a:bodyPr/>
          <a:lstStyle/>
          <a:p>
            <a:pPr marL="0" lvl="0" indent="0">
              <a:spcBef>
                <a:spcPts val="3000"/>
              </a:spcBef>
              <a:buNone/>
            </a:pPr>
            <a:r>
              <a:rPr b="1"/>
              <a:t>Analyse des Genres et Sentiments des meilleures Séries Télévisées : Une Étude des Données Allociné</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Objectif</a:t>
            </a:r>
          </a:p>
        </p:txBody>
      </p:sp>
      <p:sp>
        <p:nvSpPr>
          <p:cNvPr id="3" name="Content Placeholder 2"/>
          <p:cNvSpPr>
            <a:spLocks noGrp="1"/>
          </p:cNvSpPr>
          <p:nvPr>
            <p:ph idx="1"/>
          </p:nvPr>
        </p:nvSpPr>
        <p:spPr/>
        <p:txBody>
          <a:bodyPr/>
          <a:lstStyle/>
          <a:p>
            <a:pPr marL="0" lvl="0" indent="0" algn="just">
              <a:buNone/>
            </a:pPr>
            <a:r>
              <a:rPr dirty="0" err="1"/>
              <a:t>L’objectif</a:t>
            </a:r>
            <a:r>
              <a:rPr dirty="0"/>
              <a:t> de </a:t>
            </a:r>
            <a:r>
              <a:rPr dirty="0" err="1"/>
              <a:t>ce</a:t>
            </a:r>
            <a:r>
              <a:rPr dirty="0"/>
              <a:t> </a:t>
            </a:r>
            <a:r>
              <a:rPr dirty="0" err="1"/>
              <a:t>projet</a:t>
            </a:r>
            <a:r>
              <a:rPr dirty="0"/>
              <a:t> </a:t>
            </a:r>
            <a:r>
              <a:rPr dirty="0" err="1"/>
              <a:t>est</a:t>
            </a:r>
            <a:r>
              <a:rPr dirty="0"/>
              <a:t> </a:t>
            </a:r>
            <a:r>
              <a:rPr dirty="0" err="1"/>
              <a:t>d’explorer</a:t>
            </a:r>
            <a:r>
              <a:rPr dirty="0"/>
              <a:t> les </a:t>
            </a:r>
            <a:r>
              <a:rPr dirty="0" err="1"/>
              <a:t>caractéristiques</a:t>
            </a:r>
            <a:r>
              <a:rPr dirty="0"/>
              <a:t> des </a:t>
            </a:r>
            <a:r>
              <a:rPr dirty="0" err="1"/>
              <a:t>meilleures</a:t>
            </a:r>
            <a:r>
              <a:rPr dirty="0"/>
              <a:t> </a:t>
            </a:r>
            <a:r>
              <a:rPr dirty="0" err="1"/>
              <a:t>séries</a:t>
            </a:r>
            <a:r>
              <a:rPr dirty="0"/>
              <a:t> </a:t>
            </a:r>
            <a:r>
              <a:rPr dirty="0" err="1"/>
              <a:t>télévisées</a:t>
            </a:r>
            <a:r>
              <a:rPr dirty="0"/>
              <a:t> </a:t>
            </a:r>
            <a:r>
              <a:rPr dirty="0" err="1"/>
              <a:t>répertoriées</a:t>
            </a:r>
            <a:r>
              <a:rPr dirty="0"/>
              <a:t> sur le site </a:t>
            </a:r>
            <a:r>
              <a:rPr dirty="0" err="1"/>
              <a:t>Allociné</a:t>
            </a:r>
            <a:r>
              <a:rPr dirty="0"/>
              <a:t>, </a:t>
            </a:r>
            <a:r>
              <a:rPr dirty="0" err="1"/>
              <a:t>en</a:t>
            </a:r>
            <a:r>
              <a:rPr dirty="0"/>
              <a:t> </a:t>
            </a:r>
            <a:r>
              <a:rPr dirty="0" err="1"/>
              <a:t>mettant</a:t>
            </a:r>
            <a:r>
              <a:rPr dirty="0"/>
              <a:t> </a:t>
            </a:r>
            <a:r>
              <a:rPr dirty="0" err="1"/>
              <a:t>en</a:t>
            </a:r>
            <a:r>
              <a:rPr dirty="0"/>
              <a:t> lumière les genres les plus </a:t>
            </a:r>
            <a:r>
              <a:rPr dirty="0" err="1"/>
              <a:t>représentés</a:t>
            </a:r>
            <a:r>
              <a:rPr dirty="0"/>
              <a:t> et </a:t>
            </a:r>
            <a:r>
              <a:rPr dirty="0" err="1"/>
              <a:t>en</a:t>
            </a:r>
            <a:r>
              <a:rPr dirty="0"/>
              <a:t> </a:t>
            </a:r>
            <a:r>
              <a:rPr dirty="0" err="1"/>
              <a:t>analysant</a:t>
            </a:r>
            <a:r>
              <a:rPr dirty="0"/>
              <a:t> les sentiments des </a:t>
            </a:r>
            <a:r>
              <a:rPr dirty="0" err="1"/>
              <a:t>spectateurs</a:t>
            </a:r>
            <a:r>
              <a:rPr dirty="0"/>
              <a:t> à </a:t>
            </a:r>
            <a:r>
              <a:rPr dirty="0" err="1"/>
              <a:t>partir</a:t>
            </a:r>
            <a:r>
              <a:rPr dirty="0"/>
              <a:t> des </a:t>
            </a:r>
            <a:r>
              <a:rPr dirty="0" err="1"/>
              <a:t>commentaires</a:t>
            </a:r>
            <a:r>
              <a:rPr dirty="0"/>
              <a:t> </a:t>
            </a:r>
            <a:r>
              <a:rPr dirty="0" err="1"/>
              <a:t>publiés</a:t>
            </a:r>
            <a:r>
              <a:rPr dirty="0"/>
              <a:t>. À travers des </a:t>
            </a:r>
            <a:r>
              <a:rPr dirty="0" err="1"/>
              <a:t>visualisations</a:t>
            </a:r>
            <a:r>
              <a:rPr dirty="0"/>
              <a:t> et des analyses </a:t>
            </a:r>
            <a:r>
              <a:rPr dirty="0" err="1"/>
              <a:t>qualitatives</a:t>
            </a:r>
            <a:r>
              <a:rPr dirty="0"/>
              <a:t>, </a:t>
            </a:r>
            <a:r>
              <a:rPr dirty="0" err="1"/>
              <a:t>ce</a:t>
            </a:r>
            <a:r>
              <a:rPr dirty="0"/>
              <a:t> </a:t>
            </a:r>
            <a:r>
              <a:rPr dirty="0" err="1"/>
              <a:t>projet</a:t>
            </a:r>
            <a:r>
              <a:rPr dirty="0"/>
              <a:t> vise à identifier les tendances dans les </a:t>
            </a:r>
            <a:r>
              <a:rPr dirty="0" err="1"/>
              <a:t>préférences</a:t>
            </a:r>
            <a:r>
              <a:rPr dirty="0"/>
              <a:t> des </a:t>
            </a:r>
            <a:r>
              <a:rPr dirty="0" err="1"/>
              <a:t>spectateurs</a:t>
            </a:r>
            <a:r>
              <a:rPr dirty="0"/>
              <a:t> et à </a:t>
            </a:r>
            <a:r>
              <a:rPr dirty="0" err="1"/>
              <a:t>dégager</a:t>
            </a:r>
            <a:r>
              <a:rPr dirty="0"/>
              <a:t> des perspectives sur la perception </a:t>
            </a:r>
            <a:r>
              <a:rPr dirty="0" err="1"/>
              <a:t>globale</a:t>
            </a:r>
            <a:r>
              <a:rPr dirty="0"/>
              <a:t> des </a:t>
            </a:r>
            <a:r>
              <a:rPr dirty="0" err="1"/>
              <a:t>séries</a:t>
            </a:r>
            <a:r>
              <a:rPr dirty="0"/>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marL="0" lvl="0" indent="0">
              <a:buNone/>
            </a:pPr>
            <a:r>
              <a:t>Méthodologie</a:t>
            </a:r>
          </a:p>
        </p:txBody>
      </p:sp>
      <p:sp>
        <p:nvSpPr>
          <p:cNvPr id="4" name="Text Placeholder 3"/>
          <p:cNvSpPr>
            <a:spLocks noGrp="1"/>
          </p:cNvSpPr>
          <p:nvPr>
            <p:ph type="body" sz="half" idx="2"/>
          </p:nvPr>
        </p:nvSpPr>
        <p:spPr/>
        <p:txBody>
          <a:bodyPr/>
          <a:lstStyle/>
          <a:p>
            <a:pPr marL="0" lvl="0" indent="0">
              <a:buNone/>
            </a:pPr>
            <a:r>
              <a:t>Dans un premier temps, nous allons récupérer les titres, genres, et commentaires associés aux 200 meilleures séries selon Allociné à l’aide de techniques de web scraping. Ensuite, Nettoyer et structurer les données extraites (NA, doublons, etc.).</a:t>
            </a:r>
          </a:p>
          <a:p>
            <a:pPr marL="0" lvl="0" indent="0">
              <a:buNone/>
            </a:pPr>
            <a:r>
              <a:t>Après, nous allons réaliser une analyse descriptive pour identifier les genres les plus fréquents parmi les séries puis construire des visualisations pour mettre en évidence les genres les plus représentés.</a:t>
            </a:r>
          </a:p>
          <a:p>
            <a:pPr marL="0" lvl="0" indent="0">
              <a:buNone/>
            </a:pPr>
            <a:r>
              <a:t>Nous allons aussi essayer d’analyser les sentiments de la première meilleure série :</a:t>
            </a:r>
          </a:p>
          <a:p>
            <a:pPr lvl="0"/>
            <a:r>
              <a:t>Traiter les commentaires des spectateurs en effectuant une analyse des sentiments</a:t>
            </a:r>
          </a:p>
          <a:p>
            <a:pPr lvl="0"/>
            <a:r>
              <a:t>Catégoriser les commentaires en sentiments positifs, neutres et négatifs.</a:t>
            </a:r>
          </a:p>
          <a:p>
            <a:pPr lvl="0"/>
            <a:r>
              <a:t>Visualiser les résultats à l’aide de graphiques pour illustrer la répartition des sentiments.</a:t>
            </a:r>
          </a:p>
          <a:p>
            <a:pPr marL="0" lvl="0" indent="0">
              <a:buNone/>
            </a:pPr>
            <a:r>
              <a:t>Nous allons utiliser des outils comme des nuages de mots pour explorer les thèmes les plus récurrents dans les commentaires.</a:t>
            </a:r>
          </a:p>
          <a:p>
            <a:pPr marL="0" lvl="0" indent="0">
              <a:buNone/>
            </a:pPr>
            <a:r>
              <a:t>Enfin, nous allons interpréter les résultats.</a:t>
            </a:r>
          </a:p>
          <a:p>
            <a:pPr marL="0" lvl="0" indent="0">
              <a:spcBef>
                <a:spcPts val="3000"/>
              </a:spcBef>
              <a:buNone/>
            </a:pPr>
            <a:r>
              <a:rPr b="1"/>
              <a:t>Packages</a:t>
            </a:r>
          </a:p>
          <a:p>
            <a:pPr lvl="0" indent="0">
              <a:buNone/>
            </a:pPr>
            <a:r>
              <a:rPr>
                <a:solidFill>
                  <a:srgbClr val="06287E"/>
                </a:solidFill>
                <a:latin typeface="Courier"/>
              </a:rPr>
              <a:t>library</a:t>
            </a:r>
            <a:r>
              <a:rPr>
                <a:latin typeface="Courier"/>
              </a:rPr>
              <a:t>(stringr)</a:t>
            </a:r>
          </a:p>
          <a:p>
            <a:pPr lvl="0" indent="0">
              <a:buNone/>
            </a:pPr>
            <a:r>
              <a:rPr>
                <a:latin typeface="Courier"/>
              </a:rPr>
              <a:t>## Warning: le package 'stringr' a été compilé avec la version R 4.3.3</a:t>
            </a:r>
          </a:p>
          <a:p>
            <a:pPr lvl="0" indent="0">
              <a:buNone/>
            </a:pPr>
            <a:r>
              <a:rPr>
                <a:solidFill>
                  <a:srgbClr val="06287E"/>
                </a:solidFill>
                <a:latin typeface="Courier"/>
              </a:rPr>
              <a:t>library</a:t>
            </a:r>
            <a:r>
              <a:rPr>
                <a:latin typeface="Courier"/>
              </a:rPr>
              <a:t>(rvest)</a:t>
            </a:r>
            <a:br/>
            <a:r>
              <a:rPr>
                <a:solidFill>
                  <a:srgbClr val="06287E"/>
                </a:solidFill>
                <a:latin typeface="Courier"/>
              </a:rPr>
              <a:t>library</a:t>
            </a:r>
            <a:r>
              <a:rPr>
                <a:latin typeface="Courier"/>
              </a:rPr>
              <a:t>(dplyr)</a:t>
            </a:r>
          </a:p>
          <a:p>
            <a:pPr lvl="0" indent="0">
              <a:buNone/>
            </a:pPr>
            <a:r>
              <a:rPr>
                <a:latin typeface="Courier"/>
              </a:rPr>
              <a:t>## Warning: le package 'dplyr' a été compilé avec la version R 4.3.3</a:t>
            </a:r>
          </a:p>
          <a:p>
            <a:pPr lvl="0" indent="0">
              <a:buNone/>
            </a:pPr>
            <a:r>
              <a:rPr>
                <a:latin typeface="Courier"/>
              </a:rPr>
              <a:t>## 
## Attachement du package : 'dplyr'</a:t>
            </a:r>
          </a:p>
          <a:p>
            <a:pPr lvl="0" indent="0">
              <a:buNone/>
            </a:pPr>
            <a:r>
              <a:rPr>
                <a:latin typeface="Courier"/>
              </a:rPr>
              <a:t>## Les objets suivants sont masqués depuis 'package:stats':
## 
##     filter, lag</a:t>
            </a:r>
          </a:p>
          <a:p>
            <a:pPr lvl="0" indent="0">
              <a:buNone/>
            </a:pPr>
            <a:r>
              <a:rPr>
                <a:latin typeface="Courier"/>
              </a:rPr>
              <a:t>## Les objets suivants sont masqués depuis 'package:base':
## 
##     intersect, setdiff, setequal, union</a:t>
            </a:r>
          </a:p>
          <a:p>
            <a:pPr lvl="0" indent="0">
              <a:buNone/>
            </a:pPr>
            <a:r>
              <a:rPr>
                <a:solidFill>
                  <a:srgbClr val="06287E"/>
                </a:solidFill>
                <a:latin typeface="Courier"/>
              </a:rPr>
              <a:t>library</a:t>
            </a:r>
            <a:r>
              <a:rPr>
                <a:latin typeface="Courier"/>
              </a:rPr>
              <a:t>(tidyr)</a:t>
            </a:r>
          </a:p>
          <a:p>
            <a:pPr lvl="0" indent="0">
              <a:buNone/>
            </a:pPr>
            <a:r>
              <a:rPr>
                <a:latin typeface="Courier"/>
              </a:rPr>
              <a:t>## Warning: le package 'tidyr' a été compilé avec la version R 4.3.3</a:t>
            </a:r>
          </a:p>
          <a:p>
            <a:pPr lvl="0" indent="0">
              <a:buNone/>
            </a:pPr>
            <a:r>
              <a:rPr>
                <a:solidFill>
                  <a:srgbClr val="06287E"/>
                </a:solidFill>
                <a:latin typeface="Courier"/>
              </a:rPr>
              <a:t>library</a:t>
            </a:r>
            <a:r>
              <a:rPr>
                <a:latin typeface="Courier"/>
              </a:rPr>
              <a:t>(ggplot2)</a:t>
            </a:r>
          </a:p>
          <a:p>
            <a:pPr lvl="0" indent="0">
              <a:buNone/>
            </a:pPr>
            <a:r>
              <a:rPr>
                <a:latin typeface="Courier"/>
              </a:rPr>
              <a:t>## Warning: le package 'ggplot2' a été compilé avec la version R 4.3.3</a:t>
            </a:r>
          </a:p>
          <a:p>
            <a:pPr lvl="0" indent="0">
              <a:buNone/>
            </a:pPr>
            <a:r>
              <a:rPr>
                <a:solidFill>
                  <a:srgbClr val="06287E"/>
                </a:solidFill>
                <a:latin typeface="Courier"/>
              </a:rPr>
              <a:t>library</a:t>
            </a:r>
            <a:r>
              <a:rPr>
                <a:latin typeface="Courier"/>
              </a:rPr>
              <a:t>(wordcloud)</a:t>
            </a:r>
          </a:p>
          <a:p>
            <a:pPr lvl="0" indent="0">
              <a:buNone/>
            </a:pPr>
            <a:r>
              <a:rPr>
                <a:latin typeface="Courier"/>
              </a:rPr>
              <a:t>## Warning: le package 'wordcloud' a été compilé avec la version R 4.3.3</a:t>
            </a:r>
          </a:p>
          <a:p>
            <a:pPr lvl="0" indent="0">
              <a:buNone/>
            </a:pPr>
            <a:r>
              <a:rPr>
                <a:latin typeface="Courier"/>
              </a:rPr>
              <a:t>## Le chargement a nécessité le package : RColorBrewer</a:t>
            </a:r>
          </a:p>
          <a:p>
            <a:pPr lvl="0" indent="0">
              <a:buNone/>
            </a:pPr>
            <a:r>
              <a:rPr>
                <a:solidFill>
                  <a:srgbClr val="06287E"/>
                </a:solidFill>
                <a:latin typeface="Courier"/>
              </a:rPr>
              <a:t>library</a:t>
            </a:r>
            <a:r>
              <a:rPr>
                <a:latin typeface="Courier"/>
              </a:rPr>
              <a:t>(RColorBrewer)</a:t>
            </a:r>
          </a:p>
          <a:p>
            <a:pPr marL="0" lvl="0" indent="0">
              <a:spcBef>
                <a:spcPts val="3000"/>
              </a:spcBef>
              <a:buNone/>
            </a:pPr>
            <a:r>
              <a:rPr b="1"/>
              <a:t>I. Analyses des 150 meilleures séries de tous les temps sur aAllociné</a:t>
            </a:r>
          </a:p>
          <a:p>
            <a:pPr lvl="0" indent="0">
              <a:buNone/>
            </a:pPr>
            <a:r>
              <a:rPr>
                <a:latin typeface="Courier"/>
              </a:rPr>
              <a:t>url </a:t>
            </a:r>
            <a:r>
              <a:rPr>
                <a:solidFill>
                  <a:srgbClr val="007020"/>
                </a:solidFill>
                <a:latin typeface="Courier"/>
              </a:rPr>
              <a:t>&lt;-</a:t>
            </a:r>
            <a:r>
              <a:rPr>
                <a:latin typeface="Courier"/>
              </a:rPr>
              <a:t> </a:t>
            </a:r>
            <a:r>
              <a:rPr>
                <a:solidFill>
                  <a:srgbClr val="4070A0"/>
                </a:solidFill>
                <a:latin typeface="Courier"/>
              </a:rPr>
              <a:t>"https://www.allocine.fr/series/meilleures/"</a:t>
            </a:r>
            <a:r>
              <a:rPr>
                <a:latin typeface="Courier"/>
              </a:rPr>
              <a:t>  </a:t>
            </a:r>
            <a:br/>
            <a:r>
              <a:rPr i="1">
                <a:solidFill>
                  <a:srgbClr val="60A0B0"/>
                </a:solidFill>
                <a:latin typeface="Courier"/>
              </a:rPr>
              <a:t>#Lien de la page contenant les séries les mieux notées</a:t>
            </a:r>
            <a:br/>
            <a:br/>
            <a:r>
              <a:rPr>
                <a:latin typeface="Courier"/>
              </a:rPr>
              <a:t>page </a:t>
            </a:r>
            <a:r>
              <a:rPr>
                <a:solidFill>
                  <a:srgbClr val="007020"/>
                </a:solidFill>
                <a:latin typeface="Courier"/>
              </a:rPr>
              <a:t>&lt;-</a:t>
            </a:r>
            <a:r>
              <a:rPr>
                <a:latin typeface="Courier"/>
              </a:rPr>
              <a:t> </a:t>
            </a:r>
            <a:r>
              <a:rPr>
                <a:solidFill>
                  <a:srgbClr val="06287E"/>
                </a:solidFill>
                <a:latin typeface="Courier"/>
              </a:rPr>
              <a:t>read_html</a:t>
            </a:r>
            <a:r>
              <a:rPr>
                <a:latin typeface="Courier"/>
              </a:rPr>
              <a:t>(url) </a:t>
            </a:r>
            <a:br/>
            <a:r>
              <a:rPr i="1">
                <a:solidFill>
                  <a:srgbClr val="60A0B0"/>
                </a:solidFill>
                <a:latin typeface="Courier"/>
              </a:rPr>
              <a:t># Récupération du contenu HTML de la page</a:t>
            </a:r>
            <a:br/>
            <a:br/>
            <a:br/>
            <a:r>
              <a:rPr>
                <a:latin typeface="Courier"/>
              </a:rPr>
              <a:t>notes </a:t>
            </a:r>
            <a:r>
              <a:rPr>
                <a:solidFill>
                  <a:srgbClr val="007020"/>
                </a:solidFill>
                <a:latin typeface="Courier"/>
              </a:rPr>
              <a:t>&lt;-</a:t>
            </a:r>
            <a:r>
              <a:rPr>
                <a:latin typeface="Courier"/>
              </a:rPr>
              <a:t> page </a:t>
            </a:r>
            <a:r>
              <a:rPr>
                <a:solidFill>
                  <a:srgbClr val="4070A0"/>
                </a:solidFill>
                <a:latin typeface="Courier"/>
              </a:rPr>
              <a:t>%&gt;%</a:t>
            </a:r>
            <a:br/>
            <a:r>
              <a:rPr>
                <a:latin typeface="Courier"/>
              </a:rPr>
              <a:t>  </a:t>
            </a:r>
            <a:r>
              <a:rPr>
                <a:solidFill>
                  <a:srgbClr val="06287E"/>
                </a:solidFill>
                <a:latin typeface="Courier"/>
              </a:rPr>
              <a:t>html_nodes</a:t>
            </a:r>
            <a:r>
              <a:rPr>
                <a:latin typeface="Courier"/>
              </a:rPr>
              <a:t>(</a:t>
            </a:r>
            <a:r>
              <a:rPr>
                <a:solidFill>
                  <a:srgbClr val="4070A0"/>
                </a:solidFill>
                <a:latin typeface="Courier"/>
              </a:rPr>
              <a:t>".rating-item-content"</a:t>
            </a:r>
            <a:r>
              <a:rPr>
                <a:latin typeface="Courier"/>
              </a:rPr>
              <a:t>) </a:t>
            </a:r>
            <a:r>
              <a:rPr>
                <a:solidFill>
                  <a:srgbClr val="4070A0"/>
                </a:solidFill>
                <a:latin typeface="Courier"/>
              </a:rPr>
              <a:t>%&gt;%</a:t>
            </a:r>
            <a:r>
              <a:rPr>
                <a:latin typeface="Courier"/>
              </a:rPr>
              <a:t>  </a:t>
            </a:r>
            <a:r>
              <a:rPr i="1">
                <a:solidFill>
                  <a:srgbClr val="60A0B0"/>
                </a:solidFill>
                <a:latin typeface="Courier"/>
              </a:rPr>
              <a:t># Sélection des éléments HTML correspondant aux notes</a:t>
            </a:r>
            <a:br/>
            <a:r>
              <a:rPr>
                <a:latin typeface="Courier"/>
              </a:rPr>
              <a:t>  </a:t>
            </a:r>
            <a:r>
              <a:rPr>
                <a:solidFill>
                  <a:srgbClr val="06287E"/>
                </a:solidFill>
                <a:latin typeface="Courier"/>
              </a:rPr>
              <a:t>html_text</a:t>
            </a:r>
            <a:r>
              <a:rPr>
                <a:latin typeface="Courier"/>
              </a:rPr>
              <a:t>()  </a:t>
            </a:r>
            <a:br/>
            <a:r>
              <a:rPr i="1">
                <a:solidFill>
                  <a:srgbClr val="60A0B0"/>
                </a:solidFill>
                <a:latin typeface="Courier"/>
              </a:rPr>
              <a:t># Extraction du texte brut des éléments sélectionnés</a:t>
            </a:r>
            <a:br/>
            <a:br/>
            <a:br/>
            <a:r>
              <a:rPr>
                <a:solidFill>
                  <a:srgbClr val="06287E"/>
                </a:solidFill>
                <a:latin typeface="Courier"/>
              </a:rPr>
              <a:t>print</a:t>
            </a:r>
            <a:r>
              <a:rPr>
                <a:latin typeface="Courier"/>
              </a:rPr>
              <a:t>(</a:t>
            </a:r>
            <a:r>
              <a:rPr>
                <a:solidFill>
                  <a:srgbClr val="4070A0"/>
                </a:solidFill>
                <a:latin typeface="Courier"/>
              </a:rPr>
              <a:t>"Notes brutes :"</a:t>
            </a:r>
            <a:r>
              <a:rPr>
                <a:latin typeface="Courier"/>
              </a:rPr>
              <a:t>)  </a:t>
            </a:r>
            <a:r>
              <a:rPr i="1">
                <a:solidFill>
                  <a:srgbClr val="60A0B0"/>
                </a:solidFill>
                <a:latin typeface="Courier"/>
              </a:rPr>
              <a:t># Afficher un titre pour identifier les données extraites</a:t>
            </a:r>
          </a:p>
          <a:p>
            <a:pPr lvl="0" indent="0">
              <a:buNone/>
            </a:pPr>
            <a:r>
              <a:rPr>
                <a:latin typeface="Courier"/>
              </a:rPr>
              <a:t>## [1] "Notes brutes :"</a:t>
            </a:r>
          </a:p>
          <a:p>
            <a:pPr lvl="0" indent="0">
              <a:buNone/>
            </a:pPr>
            <a:r>
              <a:rPr>
                <a:solidFill>
                  <a:srgbClr val="06287E"/>
                </a:solidFill>
                <a:latin typeface="Courier"/>
              </a:rPr>
              <a:t>print</a:t>
            </a:r>
            <a:r>
              <a:rPr>
                <a:latin typeface="Courier"/>
              </a:rPr>
              <a:t>(notes)  </a:t>
            </a:r>
            <a:r>
              <a:rPr i="1">
                <a:solidFill>
                  <a:srgbClr val="60A0B0"/>
                </a:solidFill>
                <a:latin typeface="Courier"/>
              </a:rPr>
              <a:t># Afficher les notes brutes pour vérifier le résultat</a:t>
            </a:r>
          </a:p>
          <a:p>
            <a:pPr lvl="0" indent="0">
              <a:buNone/>
            </a:pPr>
            <a:r>
              <a:rPr>
                <a:latin typeface="Courier"/>
              </a:rPr>
              <a:t>##  [1] "\n                         Presse \n            \n            \n            \n            \n\n\n    \n    \n\n\n  \n3,8\n        "     
##  [2] "\n                         Spectateurs \n            \n            \n            \n            \n\n\n    \n    \n\n\n  \n4,7\n        "
##  [3] "\n                        Mes amis \n            \n\n\n    \n    \n\n\n    \n--\n        "                                             
##  [4] "\n                         Presse \n            \n            \n            \n            \n\n\n    \n    \n\n\n  \n4,1\n        "     
##  [5] "\n                         Spectateurs \n            \n            \n            \n            \n\n\n    \n    \n\n\n  \n4,6\n        "
##  [6] "\n                        Mes amis \n            \n\n\n    \n    \n\n\n    \n--\n        "                                             
##  [7] "\n                         Presse \n            \n            \n            \n            \n\n\n    \n    \n\n\n  \n4,1\n        "     
##  [8] "\n                         Spectateurs \n            \n            \n            \n            \n\n\n    \n    \n\n\n  \n4,6\n        "
##  [9] "\n                        Mes amis \n            \n\n\n    \n    \n\n\n    \n--\n        "                                             
## [10] "\n                         Presse \n            \n            \n            \n            \n\n\n    \n    \n\n\n  \n4,3\n        "     
## [11] "\n                         Spectateurs \n            \n            \n            \n            \n\n\n    \n    \n\n\n  \n4,6\n        "
## [12] "\n                        Mes amis \n            \n\n\n    \n    \n\n\n    \n--\n        "                                             
## [13] "\n                         Spectateurs \n            \n            \n            \n            \n\n\n    \n    \n\n\n  \n4,6\n        "
## [14] "\n                        Mes amis \n            \n\n\n    \n    \n\n\n    \n--\n        "                                             
## [15] "\n                         Presse \n            \n            \n            \n            \n\n\n    \n    \n\n\n  \n4,0\n        "     
## [16] "\n                         Spectateurs \n            \n            \n            \n            \n\n\n    \n    \n\n\n  \n4,5\n        "
## [17] "\n                        Mes amis \n            \n\n\n    \n    \n\n\n    \n--\n        "                                             
## [18] "\n                         Spectateurs \n            \n            \n            \n            \n\n\n    \n    \n\n\n  \n4,5\n        "
## [19] "\n                        Mes amis \n            \n\n\n    \n    \n\n\n    \n--\n        "                                             
## [20] "\n                         Spectateurs \n            \n            \n            \n            \n\n\n    \n    \n\n\n  \n4,5\n        "
## [21] "\n                        Mes amis \n            \n\n\n    \n    \n\n\n    \n--\n        "                                             
## [22] "\n                         Spectateurs \n            \n            \n            \n            \n\n\n    \n    \n\n\n  \n4,5\n        "
## [23] "\n                        Mes amis \n            \n\n\n    \n    \n\n\n    \n--\n        "                                             
## [24] "\n                         Spectateurs \n            \n            \n            \n            \n\n\n    \n    \n\n\n  \n4,5\n        "
## [25] "\n                        Mes amis \n            \n\n\n    \n    \n\n\n    \n--\n        "                                             
## [26] "\n                         Presse \n            \n            \n            \n            \n\n\n    \n    \n\n\n  \n4,3\n        "     
## [27] "\n                         Spectateurs \n            \n            \n            \n            \n\n\n    \n    \n\n\n  \n4,5\n        "
## [28] "\n                        Mes amis \n            \n\n\n    \n    \n\n\n    \n--\n        "                                             
## [29] "\n                         Spectateurs \n            \n            \n            \n            \n\n\n    \n    \n\n\n  \n4,5\n        "
## [30] "\n                        Mes amis \n            \n\n\n    \n    \n\n\n    \n--\n        "                                             
## [31] "\n                         Spectateurs \n            \n            \n            \n            \n\n\n    \n    \n\n\n  \n4,5\n        "
## [32] "\n                        Mes amis \n            \n\n\n    \n    \n\n\n    \n--\n        "                                             
## [33] "\n                         Presse \n            \n            \n            \n            \n\n\n    \n    \n\n\n  \n4,0\n        "     
## [34] "\n                         Spectateurs \n            \n            \n            \n            \n\n\n    \n    \n\n\n  \n4,5\n        "
## [35] "\n                        Mes amis \n            \n\n\n    \n    \n\n\n    \n--\n        "                                             
## [36] "\n                         Presse \n            \n            \n            \n            \n\n\n    \n    \n\n\n    \n3,7\n        "   
## [37] "\n                         Spectateurs \n            \n            \n            \n            \n\n\n    \n    \n\n\n  \n4,4\n        "
## [38] "\n                        Mes amis \n            \n\n\n    \n    \n\n\n    \n--\n        "</a:t>
            </a:r>
          </a:p>
          <a:p>
            <a:pPr lvl="0" indent="0">
              <a:buNone/>
            </a:pPr>
            <a:r>
              <a:rPr>
                <a:latin typeface="Courier"/>
              </a:rPr>
              <a:t>notes_clean </a:t>
            </a:r>
            <a:r>
              <a:rPr>
                <a:solidFill>
                  <a:srgbClr val="007020"/>
                </a:solidFill>
                <a:latin typeface="Courier"/>
              </a:rPr>
              <a:t>&lt;-</a:t>
            </a:r>
            <a:r>
              <a:rPr>
                <a:latin typeface="Courier"/>
              </a:rPr>
              <a:t> </a:t>
            </a:r>
            <a:r>
              <a:rPr>
                <a:solidFill>
                  <a:srgbClr val="06287E"/>
                </a:solidFill>
                <a:latin typeface="Courier"/>
              </a:rPr>
              <a:t>str_extract</a:t>
            </a:r>
            <a:r>
              <a:rPr>
                <a:latin typeface="Courier"/>
              </a:rPr>
              <a:t>(notes, </a:t>
            </a:r>
            <a:r>
              <a:rPr>
                <a:solidFill>
                  <a:srgbClr val="4070A0"/>
                </a:solidFill>
                <a:latin typeface="Courier"/>
              </a:rPr>
              <a:t>"\\d,\\d"</a:t>
            </a:r>
            <a:r>
              <a:rPr>
                <a:latin typeface="Courier"/>
              </a:rPr>
              <a:t>) </a:t>
            </a:r>
            <a:br/>
            <a:r>
              <a:rPr i="1">
                <a:solidFill>
                  <a:srgbClr val="60A0B0"/>
                </a:solidFill>
                <a:latin typeface="Courier"/>
              </a:rPr>
              <a:t># cette ligne permet d'extraire uniquement les valeurs numériques au format x,y</a:t>
            </a:r>
            <a:br/>
            <a:br/>
            <a:br/>
            <a:r>
              <a:rPr>
                <a:latin typeface="Courier"/>
              </a:rPr>
              <a:t>notes_presse </a:t>
            </a:r>
            <a:r>
              <a:rPr>
                <a:solidFill>
                  <a:srgbClr val="007020"/>
                </a:solidFill>
                <a:latin typeface="Courier"/>
              </a:rPr>
              <a:t>&lt;-</a:t>
            </a:r>
            <a:r>
              <a:rPr>
                <a:latin typeface="Courier"/>
              </a:rPr>
              <a:t> notes[</a:t>
            </a:r>
            <a:r>
              <a:rPr>
                <a:solidFill>
                  <a:srgbClr val="06287E"/>
                </a:solidFill>
                <a:latin typeface="Courier"/>
              </a:rPr>
              <a:t>str_detect</a:t>
            </a:r>
            <a:r>
              <a:rPr>
                <a:latin typeface="Courier"/>
              </a:rPr>
              <a:t>(notes, </a:t>
            </a:r>
            <a:r>
              <a:rPr>
                <a:solidFill>
                  <a:srgbClr val="4070A0"/>
                </a:solidFill>
                <a:latin typeface="Courier"/>
              </a:rPr>
              <a:t>"Presse"</a:t>
            </a:r>
            <a:r>
              <a:rPr>
                <a:latin typeface="Courier"/>
              </a:rPr>
              <a:t>)] </a:t>
            </a:r>
            <a:r>
              <a:rPr>
                <a:solidFill>
                  <a:srgbClr val="4070A0"/>
                </a:solidFill>
                <a:latin typeface="Courier"/>
              </a:rPr>
              <a:t>%&gt;%</a:t>
            </a:r>
            <a:r>
              <a:rPr>
                <a:latin typeface="Courier"/>
              </a:rPr>
              <a:t>  </a:t>
            </a:r>
            <a:br/>
            <a:r>
              <a:rPr i="1">
                <a:solidFill>
                  <a:srgbClr val="60A0B0"/>
                </a:solidFill>
                <a:latin typeface="Courier"/>
              </a:rPr>
              <a:t># Pour filtrer uniquement les notes associées à la presse</a:t>
            </a:r>
            <a:br/>
            <a:r>
              <a:rPr>
                <a:latin typeface="Courier"/>
              </a:rPr>
              <a:t>  </a:t>
            </a:r>
            <a:r>
              <a:rPr>
                <a:solidFill>
                  <a:srgbClr val="06287E"/>
                </a:solidFill>
                <a:latin typeface="Courier"/>
              </a:rPr>
              <a:t>str_extract</a:t>
            </a:r>
            <a:r>
              <a:rPr>
                <a:latin typeface="Courier"/>
              </a:rPr>
              <a:t>(</a:t>
            </a:r>
            <a:r>
              <a:rPr>
                <a:solidFill>
                  <a:srgbClr val="4070A0"/>
                </a:solidFill>
                <a:latin typeface="Courier"/>
              </a:rPr>
              <a:t>"\\d,\\d"</a:t>
            </a:r>
            <a:r>
              <a:rPr>
                <a:latin typeface="Courier"/>
              </a:rPr>
              <a:t>)  </a:t>
            </a:r>
            <a:br/>
            <a:r>
              <a:rPr i="1">
                <a:solidFill>
                  <a:srgbClr val="60A0B0"/>
                </a:solidFill>
                <a:latin typeface="Courier"/>
              </a:rPr>
              <a:t># Extraire les valeurs numériques au format x,y pour la presse</a:t>
            </a:r>
            <a:br/>
            <a:br/>
            <a:br/>
            <a:r>
              <a:rPr>
                <a:latin typeface="Courier"/>
              </a:rPr>
              <a:t>notes_spectateurs </a:t>
            </a:r>
            <a:r>
              <a:rPr>
                <a:solidFill>
                  <a:srgbClr val="007020"/>
                </a:solidFill>
                <a:latin typeface="Courier"/>
              </a:rPr>
              <a:t>&lt;-</a:t>
            </a:r>
            <a:r>
              <a:rPr>
                <a:latin typeface="Courier"/>
              </a:rPr>
              <a:t> notes[</a:t>
            </a:r>
            <a:r>
              <a:rPr>
                <a:solidFill>
                  <a:srgbClr val="06287E"/>
                </a:solidFill>
                <a:latin typeface="Courier"/>
              </a:rPr>
              <a:t>str_detect</a:t>
            </a:r>
            <a:r>
              <a:rPr>
                <a:latin typeface="Courier"/>
              </a:rPr>
              <a:t>(notes, </a:t>
            </a:r>
            <a:r>
              <a:rPr>
                <a:solidFill>
                  <a:srgbClr val="4070A0"/>
                </a:solidFill>
                <a:latin typeface="Courier"/>
              </a:rPr>
              <a:t>"Spectateurs"</a:t>
            </a:r>
            <a:r>
              <a:rPr>
                <a:latin typeface="Courier"/>
              </a:rPr>
              <a:t>)] </a:t>
            </a:r>
            <a:r>
              <a:rPr>
                <a:solidFill>
                  <a:srgbClr val="4070A0"/>
                </a:solidFill>
                <a:latin typeface="Courier"/>
              </a:rPr>
              <a:t>%&gt;%</a:t>
            </a:r>
            <a:r>
              <a:rPr>
                <a:latin typeface="Courier"/>
              </a:rPr>
              <a:t>  </a:t>
            </a:r>
            <a:br/>
            <a:r>
              <a:rPr i="1">
                <a:solidFill>
                  <a:srgbClr val="60A0B0"/>
                </a:solidFill>
                <a:latin typeface="Courier"/>
              </a:rPr>
              <a:t># Filtrer uniquement les notes spectateurs</a:t>
            </a:r>
            <a:br/>
            <a:r>
              <a:rPr>
                <a:latin typeface="Courier"/>
              </a:rPr>
              <a:t>  </a:t>
            </a:r>
            <a:r>
              <a:rPr>
                <a:solidFill>
                  <a:srgbClr val="06287E"/>
                </a:solidFill>
                <a:latin typeface="Courier"/>
              </a:rPr>
              <a:t>str_extract</a:t>
            </a:r>
            <a:r>
              <a:rPr>
                <a:latin typeface="Courier"/>
              </a:rPr>
              <a:t>(</a:t>
            </a:r>
            <a:r>
              <a:rPr>
                <a:solidFill>
                  <a:srgbClr val="4070A0"/>
                </a:solidFill>
                <a:latin typeface="Courier"/>
              </a:rPr>
              <a:t>"\\d,\\d"</a:t>
            </a:r>
            <a:r>
              <a:rPr>
                <a:latin typeface="Courier"/>
              </a:rPr>
              <a:t>) </a:t>
            </a:r>
            <a:br/>
            <a:r>
              <a:rPr i="1">
                <a:solidFill>
                  <a:srgbClr val="60A0B0"/>
                </a:solidFill>
                <a:latin typeface="Courier"/>
              </a:rPr>
              <a:t># Extraire les valeurs numériques au format x,y pour les spectateurs</a:t>
            </a:r>
            <a:br/>
            <a:br/>
            <a:r>
              <a:rPr i="1">
                <a:solidFill>
                  <a:srgbClr val="60A0B0"/>
                </a:solidFill>
                <a:latin typeface="Courier"/>
              </a:rPr>
              <a:t># Afficher les résultats</a:t>
            </a:r>
            <a:br/>
            <a:r>
              <a:rPr>
                <a:solidFill>
                  <a:srgbClr val="06287E"/>
                </a:solidFill>
                <a:latin typeface="Courier"/>
              </a:rPr>
              <a:t>print</a:t>
            </a:r>
            <a:r>
              <a:rPr>
                <a:latin typeface="Courier"/>
              </a:rPr>
              <a:t>(notes_presse)  </a:t>
            </a:r>
            <a:r>
              <a:rPr i="1">
                <a:solidFill>
                  <a:srgbClr val="60A0B0"/>
                </a:solidFill>
                <a:latin typeface="Courier"/>
              </a:rPr>
              <a:t># Afficher les notes Presse nettoyées</a:t>
            </a:r>
          </a:p>
          <a:p>
            <a:pPr lvl="0" indent="0">
              <a:buNone/>
            </a:pPr>
            <a:r>
              <a:rPr>
                <a:latin typeface="Courier"/>
              </a:rPr>
              <a:t>## [1] "3,8" "4,1" "4,1" "4,3" "4,0" "4,3" "4,0" "3,7"</a:t>
            </a:r>
          </a:p>
          <a:p>
            <a:pPr lvl="0" indent="0">
              <a:buNone/>
            </a:pPr>
            <a:r>
              <a:rPr>
                <a:solidFill>
                  <a:srgbClr val="06287E"/>
                </a:solidFill>
                <a:latin typeface="Courier"/>
              </a:rPr>
              <a:t>print</a:t>
            </a:r>
            <a:r>
              <a:rPr>
                <a:latin typeface="Courier"/>
              </a:rPr>
              <a:t>(notes_spectateurs)  </a:t>
            </a:r>
            <a:r>
              <a:rPr i="1">
                <a:solidFill>
                  <a:srgbClr val="60A0B0"/>
                </a:solidFill>
                <a:latin typeface="Courier"/>
              </a:rPr>
              <a:t># Afficher les notes Spectateurs nettoyées</a:t>
            </a:r>
          </a:p>
          <a:p>
            <a:pPr lvl="0" indent="0">
              <a:buNone/>
            </a:pPr>
            <a:r>
              <a:rPr>
                <a:latin typeface="Courier"/>
              </a:rPr>
              <a:t>##  [1] "4,7" "4,6" "4,6" "4,6" "4,6" "4,5" "4,5" "4,5" "4,5" "4,5" "4,5" "4,5"
## [13] "4,5" "4,5" "4,4"</a:t>
            </a:r>
          </a:p>
          <a:p>
            <a:pPr marL="0" lvl="0" indent="0">
              <a:buNone/>
            </a:pPr>
            <a:r>
              <a:t>Interprètations: Les notes de presse varient entre 3,7 et 4,3, indiquant une appréciation généralement positive des critiques, bien que certaines séries n’aient pas de note de presse (NA). Les notes des spectateurs sont plus élevées, allant de 4,5 à 4,7, suggérant que le public apprécie davantage les séries. L’écart entre les notes de presse et les notes spectateurs reflète probablement une divergence d’opinions entre les critiques professionnels et les spectateurs. Les valeurs “NA” dans les notes de presse signalent des absences de critiques ou de notes pour certaines séries</a:t>
            </a:r>
          </a:p>
          <a:p>
            <a:pPr marL="0" lvl="0" indent="0">
              <a:spcBef>
                <a:spcPts val="3000"/>
              </a:spcBef>
              <a:buNone/>
            </a:pPr>
            <a:r>
              <a:rPr b="1"/>
              <a:t>Commentaire code</a:t>
            </a:r>
          </a:p>
          <a:p>
            <a:pPr lvl="0" indent="0">
              <a:buNone/>
            </a:pPr>
            <a:r>
              <a:rPr i="1">
                <a:solidFill>
                  <a:srgbClr val="60A0B0"/>
                </a:solidFill>
                <a:latin typeface="Courier"/>
              </a:rPr>
              <a:t># Extraction des genres et années de sortie</a:t>
            </a:r>
            <a:br/>
            <a:r>
              <a:rPr>
                <a:latin typeface="Courier"/>
              </a:rPr>
              <a:t>details </a:t>
            </a:r>
            <a:r>
              <a:rPr>
                <a:solidFill>
                  <a:srgbClr val="007020"/>
                </a:solidFill>
                <a:latin typeface="Courier"/>
              </a:rPr>
              <a:t>&lt;-</a:t>
            </a:r>
            <a:r>
              <a:rPr>
                <a:latin typeface="Courier"/>
              </a:rPr>
              <a:t> page </a:t>
            </a:r>
            <a:r>
              <a:rPr>
                <a:solidFill>
                  <a:srgbClr val="4070A0"/>
                </a:solidFill>
                <a:latin typeface="Courier"/>
              </a:rPr>
              <a:t>%&gt;%</a:t>
            </a:r>
            <a:br/>
            <a:r>
              <a:rPr>
                <a:latin typeface="Courier"/>
              </a:rPr>
              <a:t>  </a:t>
            </a:r>
            <a:r>
              <a:rPr>
                <a:solidFill>
                  <a:srgbClr val="06287E"/>
                </a:solidFill>
                <a:latin typeface="Courier"/>
              </a:rPr>
              <a:t>html_nodes</a:t>
            </a:r>
            <a:r>
              <a:rPr>
                <a:latin typeface="Courier"/>
              </a:rPr>
              <a:t>(</a:t>
            </a:r>
            <a:r>
              <a:rPr>
                <a:solidFill>
                  <a:srgbClr val="4070A0"/>
                </a:solidFill>
                <a:latin typeface="Courier"/>
              </a:rPr>
              <a:t>".meta-body-item.meta-body-info"</a:t>
            </a:r>
            <a:r>
              <a:rPr>
                <a:latin typeface="Courier"/>
              </a:rPr>
              <a:t>) </a:t>
            </a:r>
            <a:r>
              <a:rPr>
                <a:solidFill>
                  <a:srgbClr val="4070A0"/>
                </a:solidFill>
                <a:latin typeface="Courier"/>
              </a:rPr>
              <a:t>%&gt;%</a:t>
            </a:r>
            <a:r>
              <a:rPr>
                <a:latin typeface="Courier"/>
              </a:rPr>
              <a:t>  </a:t>
            </a:r>
            <a:br/>
            <a:r>
              <a:rPr i="1">
                <a:solidFill>
                  <a:srgbClr val="60A0B0"/>
                </a:solidFill>
                <a:latin typeface="Courier"/>
              </a:rPr>
              <a:t># Ce bout de code permet d'extractaire les genres des séries</a:t>
            </a:r>
            <a:br/>
            <a:br/>
            <a:br/>
            <a:r>
              <a:rPr i="1">
                <a:solidFill>
                  <a:srgbClr val="60A0B0"/>
                </a:solidFill>
                <a:latin typeface="Courier"/>
              </a:rPr>
              <a:t>#la fonction html_modes Sélectionne des éléments spécifiques dans une page HTML en utilisant des sélecteurs CSS</a:t>
            </a:r>
            <a:br/>
            <a:r>
              <a:rPr>
                <a:latin typeface="Courier"/>
              </a:rPr>
              <a:t>  </a:t>
            </a:r>
            <a:r>
              <a:rPr>
                <a:solidFill>
                  <a:srgbClr val="06287E"/>
                </a:solidFill>
                <a:latin typeface="Courier"/>
              </a:rPr>
              <a:t>html_text</a:t>
            </a:r>
            <a:r>
              <a:rPr>
                <a:latin typeface="Courier"/>
              </a:rPr>
              <a:t>(</a:t>
            </a:r>
            <a:r>
              <a:rPr>
                <a:solidFill>
                  <a:srgbClr val="7D9029"/>
                </a:solidFill>
                <a:latin typeface="Courier"/>
              </a:rPr>
              <a:t>trim =</a:t>
            </a:r>
            <a:r>
              <a:rPr>
                <a:latin typeface="Courier"/>
              </a:rPr>
              <a:t> </a:t>
            </a:r>
            <a:r>
              <a:rPr>
                <a:solidFill>
                  <a:srgbClr val="880000"/>
                </a:solidFill>
                <a:latin typeface="Courier"/>
              </a:rPr>
              <a:t>TRUE</a:t>
            </a:r>
            <a:r>
              <a:rPr>
                <a:latin typeface="Courier"/>
              </a:rPr>
              <a:t>)  </a:t>
            </a:r>
            <a:br/>
            <a:br/>
            <a:br/>
            <a:r>
              <a:rPr i="1">
                <a:solidFill>
                  <a:srgbClr val="60A0B0"/>
                </a:solidFill>
                <a:latin typeface="Courier"/>
              </a:rPr>
              <a:t># Pour extraire les genres en supprimant les sauts de ligne et les espaces</a:t>
            </a:r>
            <a:br/>
            <a:r>
              <a:rPr>
                <a:latin typeface="Courier"/>
              </a:rPr>
              <a:t>genres </a:t>
            </a:r>
            <a:r>
              <a:rPr>
                <a:solidFill>
                  <a:srgbClr val="007020"/>
                </a:solidFill>
                <a:latin typeface="Courier"/>
              </a:rPr>
              <a:t>&lt;-</a:t>
            </a:r>
            <a:r>
              <a:rPr>
                <a:latin typeface="Courier"/>
              </a:rPr>
              <a:t> details </a:t>
            </a:r>
            <a:r>
              <a:rPr>
                <a:solidFill>
                  <a:srgbClr val="4070A0"/>
                </a:solidFill>
                <a:latin typeface="Courier"/>
              </a:rPr>
              <a:t>%&gt;%</a:t>
            </a:r>
            <a:br/>
            <a:r>
              <a:rPr>
                <a:latin typeface="Courier"/>
              </a:rPr>
              <a:t>  </a:t>
            </a:r>
            <a:r>
              <a:rPr>
                <a:solidFill>
                  <a:srgbClr val="06287E"/>
                </a:solidFill>
                <a:latin typeface="Courier"/>
              </a:rPr>
              <a:t>str_extract</a:t>
            </a:r>
            <a:r>
              <a:rPr>
                <a:latin typeface="Courier"/>
              </a:rPr>
              <a:t>(</a:t>
            </a:r>
            <a:r>
              <a:rPr>
                <a:solidFill>
                  <a:srgbClr val="4070A0"/>
                </a:solidFill>
                <a:latin typeface="Courier"/>
              </a:rPr>
              <a:t>"([A-Za-zé,\\s]+)$"</a:t>
            </a:r>
            <a:r>
              <a:rPr>
                <a:latin typeface="Courier"/>
              </a:rPr>
              <a:t>) </a:t>
            </a:r>
            <a:r>
              <a:rPr>
                <a:solidFill>
                  <a:srgbClr val="4070A0"/>
                </a:solidFill>
                <a:latin typeface="Courier"/>
              </a:rPr>
              <a:t>%&gt;%</a:t>
            </a:r>
            <a:r>
              <a:rPr>
                <a:latin typeface="Courier"/>
              </a:rPr>
              <a:t>  </a:t>
            </a:r>
            <a:br/>
            <a:r>
              <a:rPr i="1">
                <a:solidFill>
                  <a:srgbClr val="60A0B0"/>
                </a:solidFill>
                <a:latin typeface="Courier"/>
              </a:rPr>
              <a:t># Extraction des genres (lettres et espaces) à la fin du texte</a:t>
            </a:r>
            <a:br/>
            <a:r>
              <a:rPr>
                <a:latin typeface="Courier"/>
              </a:rPr>
              <a:t>  </a:t>
            </a:r>
            <a:r>
              <a:rPr>
                <a:solidFill>
                  <a:srgbClr val="06287E"/>
                </a:solidFill>
                <a:latin typeface="Courier"/>
              </a:rPr>
              <a:t>str_replace_all</a:t>
            </a:r>
            <a:r>
              <a:rPr>
                <a:latin typeface="Courier"/>
              </a:rPr>
              <a:t>(</a:t>
            </a:r>
            <a:r>
              <a:rPr>
                <a:solidFill>
                  <a:srgbClr val="4070A0"/>
                </a:solidFill>
                <a:latin typeface="Courier"/>
              </a:rPr>
              <a:t>"\\s+"</a:t>
            </a:r>
            <a:r>
              <a:rPr>
                <a:latin typeface="Courier"/>
              </a:rPr>
              <a:t>, </a:t>
            </a:r>
            <a:r>
              <a:rPr>
                <a:solidFill>
                  <a:srgbClr val="4070A0"/>
                </a:solidFill>
                <a:latin typeface="Courier"/>
              </a:rPr>
              <a:t>" "</a:t>
            </a:r>
            <a:r>
              <a:rPr>
                <a:latin typeface="Courier"/>
              </a:rPr>
              <a:t>) </a:t>
            </a:r>
            <a:r>
              <a:rPr>
                <a:solidFill>
                  <a:srgbClr val="4070A0"/>
                </a:solidFill>
                <a:latin typeface="Courier"/>
              </a:rPr>
              <a:t>%&gt;%</a:t>
            </a:r>
            <a:r>
              <a:rPr>
                <a:latin typeface="Courier"/>
              </a:rPr>
              <a:t>     </a:t>
            </a:r>
            <a:br/>
            <a:r>
              <a:rPr i="1">
                <a:solidFill>
                  <a:srgbClr val="60A0B0"/>
                </a:solidFill>
                <a:latin typeface="Courier"/>
              </a:rPr>
              <a:t>#Cette ligne permet de remplacer les multiples espaces par un seul espace</a:t>
            </a:r>
            <a:br/>
            <a:r>
              <a:rPr>
                <a:latin typeface="Courier"/>
              </a:rPr>
              <a:t>  </a:t>
            </a:r>
            <a:r>
              <a:rPr>
                <a:solidFill>
                  <a:srgbClr val="06287E"/>
                </a:solidFill>
                <a:latin typeface="Courier"/>
              </a:rPr>
              <a:t>str_trim</a:t>
            </a:r>
            <a:r>
              <a:rPr>
                <a:latin typeface="Courier"/>
              </a:rPr>
              <a:t>()                            </a:t>
            </a:r>
            <a:br/>
            <a:r>
              <a:rPr i="1">
                <a:solidFill>
                  <a:srgbClr val="60A0B0"/>
                </a:solidFill>
                <a:latin typeface="Courier"/>
              </a:rPr>
              <a:t># Pour Suppression des espaces au début et à la fin</a:t>
            </a:r>
            <a:br/>
            <a:br/>
            <a:br/>
            <a:r>
              <a:rPr>
                <a:solidFill>
                  <a:srgbClr val="06287E"/>
                </a:solidFill>
                <a:latin typeface="Courier"/>
              </a:rPr>
              <a:t>head</a:t>
            </a:r>
            <a:r>
              <a:rPr>
                <a:latin typeface="Courier"/>
              </a:rPr>
              <a:t>(genres)  </a:t>
            </a:r>
          </a:p>
          <a:p>
            <a:pPr lvl="0" indent="0">
              <a:buNone/>
            </a:pPr>
            <a:r>
              <a:rPr>
                <a:latin typeface="Courier"/>
              </a:rPr>
              <a:t>## [1] "Drame"                                       
## [2] "Drame, Fantastique"                          
## [3] "Drame"                                       
## [4] "Action, Aventure, Animation, Science Fiction"
## [5] "Documentaire"                                
## [6] "Policier, Drame, Historique"</a:t>
            </a:r>
          </a:p>
          <a:p>
            <a:pPr lvl="0" indent="0">
              <a:buNone/>
            </a:pPr>
            <a:r>
              <a:rPr i="1">
                <a:solidFill>
                  <a:srgbClr val="60A0B0"/>
                </a:solidFill>
                <a:latin typeface="Courier"/>
              </a:rPr>
              <a:t># Afficher les premiers genres</a:t>
            </a:r>
          </a:p>
          <a:p>
            <a:pPr lvl="0" indent="0">
              <a:buNone/>
            </a:pPr>
            <a:r>
              <a:rPr i="1">
                <a:solidFill>
                  <a:srgbClr val="60A0B0"/>
                </a:solidFill>
                <a:latin typeface="Courier"/>
              </a:rPr>
              <a:t># Fonction pour extraire les titres et genres d'une page</a:t>
            </a:r>
            <a:br/>
            <a:r>
              <a:rPr>
                <a:latin typeface="Courier"/>
              </a:rPr>
              <a:t>get_series_info </a:t>
            </a:r>
            <a:r>
              <a:rPr>
                <a:solidFill>
                  <a:srgbClr val="007020"/>
                </a:solidFill>
                <a:latin typeface="Courier"/>
              </a:rPr>
              <a:t>&lt;-</a:t>
            </a:r>
            <a:r>
              <a:rPr>
                <a:latin typeface="Courier"/>
              </a:rPr>
              <a:t> </a:t>
            </a:r>
            <a:r>
              <a:rPr b="1">
                <a:solidFill>
                  <a:srgbClr val="007020"/>
                </a:solidFill>
                <a:latin typeface="Courier"/>
              </a:rPr>
              <a:t>function</a:t>
            </a:r>
            <a:r>
              <a:rPr>
                <a:latin typeface="Courier"/>
              </a:rPr>
              <a:t>(page_number) {</a:t>
            </a:r>
            <a:br/>
            <a:r>
              <a:rPr i="1">
                <a:solidFill>
                  <a:srgbClr val="60A0B0"/>
                </a:solidFill>
                <a:latin typeface="Courier"/>
              </a:rPr>
              <a:t># C'est pour générer l'URL de la page en utilisant le numéro de la page</a:t>
            </a:r>
            <a:br/>
            <a:r>
              <a:rPr>
                <a:latin typeface="Courier"/>
              </a:rPr>
              <a:t>  url </a:t>
            </a:r>
            <a:r>
              <a:rPr>
                <a:solidFill>
                  <a:srgbClr val="007020"/>
                </a:solidFill>
                <a:latin typeface="Courier"/>
              </a:rPr>
              <a:t>&lt;-</a:t>
            </a:r>
            <a:r>
              <a:rPr>
                <a:latin typeface="Courier"/>
              </a:rPr>
              <a:t> </a:t>
            </a:r>
            <a:r>
              <a:rPr>
                <a:solidFill>
                  <a:srgbClr val="06287E"/>
                </a:solidFill>
                <a:latin typeface="Courier"/>
              </a:rPr>
              <a:t>paste0</a:t>
            </a:r>
            <a:r>
              <a:rPr>
                <a:latin typeface="Courier"/>
              </a:rPr>
              <a:t>(</a:t>
            </a:r>
            <a:r>
              <a:rPr>
                <a:solidFill>
                  <a:srgbClr val="4070A0"/>
                </a:solidFill>
                <a:latin typeface="Courier"/>
              </a:rPr>
              <a:t>"https://www.allocine.fr/series/meilleures/?page="</a:t>
            </a:r>
            <a:r>
              <a:rPr>
                <a:latin typeface="Courier"/>
              </a:rPr>
              <a:t>, page_number)</a:t>
            </a:r>
            <a:br/>
            <a:r>
              <a:rPr>
                <a:latin typeface="Courier"/>
              </a:rPr>
              <a:t>  page </a:t>
            </a:r>
            <a:r>
              <a:rPr>
                <a:solidFill>
                  <a:srgbClr val="007020"/>
                </a:solidFill>
                <a:latin typeface="Courier"/>
              </a:rPr>
              <a:t>&lt;-</a:t>
            </a:r>
            <a:r>
              <a:rPr>
                <a:latin typeface="Courier"/>
              </a:rPr>
              <a:t> </a:t>
            </a:r>
            <a:r>
              <a:rPr>
                <a:solidFill>
                  <a:srgbClr val="06287E"/>
                </a:solidFill>
                <a:latin typeface="Courier"/>
              </a:rPr>
              <a:t>read_html</a:t>
            </a:r>
            <a:r>
              <a:rPr>
                <a:latin typeface="Courier"/>
              </a:rPr>
              <a:t>(url)  </a:t>
            </a:r>
            <a:r>
              <a:rPr i="1">
                <a:solidFill>
                  <a:srgbClr val="60A0B0"/>
                </a:solidFill>
                <a:latin typeface="Courier"/>
              </a:rPr>
              <a:t># Lire la page HTML</a:t>
            </a:r>
            <a:br/>
            <a:br/>
            <a:r>
              <a:rPr i="1">
                <a:solidFill>
                  <a:srgbClr val="60A0B0"/>
                </a:solidFill>
                <a:latin typeface="Courier"/>
              </a:rPr>
              <a:t>#la fonction read_html télécharge le contenu de l'URL et le rend disponible sous forme d'un document HTML pour une manipulation ultérieure.</a:t>
            </a:r>
            <a:br/>
            <a:r>
              <a:rPr>
                <a:latin typeface="Courier"/>
              </a:rPr>
              <a:t>  </a:t>
            </a:r>
            <a:br/>
            <a:r>
              <a:rPr i="1">
                <a:solidFill>
                  <a:srgbClr val="60A0B0"/>
                </a:solidFill>
                <a:latin typeface="Courier"/>
              </a:rPr>
              <a:t># Extraction des titres des séries</a:t>
            </a:r>
            <a:br/>
            <a:r>
              <a:rPr>
                <a:latin typeface="Courier"/>
              </a:rPr>
              <a:t>  titles </a:t>
            </a:r>
            <a:r>
              <a:rPr>
                <a:solidFill>
                  <a:srgbClr val="007020"/>
                </a:solidFill>
                <a:latin typeface="Courier"/>
              </a:rPr>
              <a:t>&lt;-</a:t>
            </a:r>
            <a:r>
              <a:rPr>
                <a:latin typeface="Courier"/>
              </a:rPr>
              <a:t> page </a:t>
            </a:r>
            <a:r>
              <a:rPr>
                <a:solidFill>
                  <a:srgbClr val="4070A0"/>
                </a:solidFill>
                <a:latin typeface="Courier"/>
              </a:rPr>
              <a:t>%&gt;%</a:t>
            </a:r>
            <a:br/>
            <a:r>
              <a:rPr>
                <a:latin typeface="Courier"/>
              </a:rPr>
              <a:t>    </a:t>
            </a:r>
            <a:r>
              <a:rPr>
                <a:solidFill>
                  <a:srgbClr val="06287E"/>
                </a:solidFill>
                <a:latin typeface="Courier"/>
              </a:rPr>
              <a:t>html_nodes</a:t>
            </a:r>
            <a:r>
              <a:rPr>
                <a:latin typeface="Courier"/>
              </a:rPr>
              <a:t>(</a:t>
            </a:r>
            <a:r>
              <a:rPr>
                <a:solidFill>
                  <a:srgbClr val="4070A0"/>
                </a:solidFill>
                <a:latin typeface="Courier"/>
              </a:rPr>
              <a:t>".meta-title-link"</a:t>
            </a:r>
            <a:r>
              <a:rPr>
                <a:latin typeface="Courier"/>
              </a:rPr>
              <a:t>) </a:t>
            </a:r>
            <a:r>
              <a:rPr>
                <a:solidFill>
                  <a:srgbClr val="4070A0"/>
                </a:solidFill>
                <a:latin typeface="Courier"/>
              </a:rPr>
              <a:t>%&gt;%</a:t>
            </a:r>
            <a:r>
              <a:rPr>
                <a:latin typeface="Courier"/>
              </a:rPr>
              <a:t>  </a:t>
            </a:r>
            <a:br/>
            <a:r>
              <a:rPr i="1">
                <a:solidFill>
                  <a:srgbClr val="60A0B0"/>
                </a:solidFill>
                <a:latin typeface="Courier"/>
              </a:rPr>
              <a:t># Sélectionner les éléments HTML contenant les titres</a:t>
            </a:r>
            <a:br/>
            <a:r>
              <a:rPr>
                <a:latin typeface="Courier"/>
              </a:rPr>
              <a:t>    </a:t>
            </a:r>
            <a:r>
              <a:rPr>
                <a:solidFill>
                  <a:srgbClr val="06287E"/>
                </a:solidFill>
                <a:latin typeface="Courier"/>
              </a:rPr>
              <a:t>html_text</a:t>
            </a:r>
            <a:r>
              <a:rPr>
                <a:latin typeface="Courier"/>
              </a:rPr>
              <a:t>(</a:t>
            </a:r>
            <a:r>
              <a:rPr>
                <a:solidFill>
                  <a:srgbClr val="7D9029"/>
                </a:solidFill>
                <a:latin typeface="Courier"/>
              </a:rPr>
              <a:t>trim =</a:t>
            </a:r>
            <a:r>
              <a:rPr>
                <a:latin typeface="Courier"/>
              </a:rPr>
              <a:t> </a:t>
            </a:r>
            <a:r>
              <a:rPr>
                <a:solidFill>
                  <a:srgbClr val="880000"/>
                </a:solidFill>
                <a:latin typeface="Courier"/>
              </a:rPr>
              <a:t>TRUE</a:t>
            </a:r>
            <a:r>
              <a:rPr>
                <a:latin typeface="Courier"/>
              </a:rPr>
              <a:t>)  </a:t>
            </a:r>
            <a:br/>
            <a:r>
              <a:rPr i="1">
                <a:solidFill>
                  <a:srgbClr val="60A0B0"/>
                </a:solidFill>
                <a:latin typeface="Courier"/>
              </a:rPr>
              <a:t># Extraire le texte des titres et enlever les espaces superflus</a:t>
            </a:r>
            <a:br/>
            <a:r>
              <a:rPr>
                <a:latin typeface="Courier"/>
              </a:rPr>
              <a:t>  </a:t>
            </a:r>
            <a:br/>
            <a:r>
              <a:rPr i="1">
                <a:solidFill>
                  <a:srgbClr val="60A0B0"/>
                </a:solidFill>
                <a:latin typeface="Courier"/>
              </a:rPr>
              <a:t># Extraction des détails des séries (incluant les genres)</a:t>
            </a:r>
            <a:br/>
            <a:r>
              <a:rPr>
                <a:latin typeface="Courier"/>
              </a:rPr>
              <a:t>  details </a:t>
            </a:r>
            <a:r>
              <a:rPr>
                <a:solidFill>
                  <a:srgbClr val="007020"/>
                </a:solidFill>
                <a:latin typeface="Courier"/>
              </a:rPr>
              <a:t>&lt;-</a:t>
            </a:r>
            <a:r>
              <a:rPr>
                <a:latin typeface="Courier"/>
              </a:rPr>
              <a:t> page </a:t>
            </a:r>
            <a:r>
              <a:rPr>
                <a:solidFill>
                  <a:srgbClr val="4070A0"/>
                </a:solidFill>
                <a:latin typeface="Courier"/>
              </a:rPr>
              <a:t>%&gt;%</a:t>
            </a:r>
            <a:br/>
            <a:r>
              <a:rPr>
                <a:latin typeface="Courier"/>
              </a:rPr>
              <a:t>    </a:t>
            </a:r>
            <a:r>
              <a:rPr>
                <a:solidFill>
                  <a:srgbClr val="06287E"/>
                </a:solidFill>
                <a:latin typeface="Courier"/>
              </a:rPr>
              <a:t>html_nodes</a:t>
            </a:r>
            <a:r>
              <a:rPr>
                <a:latin typeface="Courier"/>
              </a:rPr>
              <a:t>(</a:t>
            </a:r>
            <a:r>
              <a:rPr>
                <a:solidFill>
                  <a:srgbClr val="4070A0"/>
                </a:solidFill>
                <a:latin typeface="Courier"/>
              </a:rPr>
              <a:t>".meta-body-item.meta-body-info"</a:t>
            </a:r>
            <a:r>
              <a:rPr>
                <a:latin typeface="Courier"/>
              </a:rPr>
              <a:t>) </a:t>
            </a:r>
            <a:r>
              <a:rPr>
                <a:solidFill>
                  <a:srgbClr val="4070A0"/>
                </a:solidFill>
                <a:latin typeface="Courier"/>
              </a:rPr>
              <a:t>%&gt;%</a:t>
            </a:r>
            <a:r>
              <a:rPr>
                <a:latin typeface="Courier"/>
              </a:rPr>
              <a:t> </a:t>
            </a:r>
            <a:br/>
            <a:r>
              <a:rPr i="1">
                <a:solidFill>
                  <a:srgbClr val="60A0B0"/>
                </a:solidFill>
                <a:latin typeface="Courier"/>
              </a:rPr>
              <a:t># Sélectionner les éléments contenant les genres</a:t>
            </a:r>
            <a:br/>
            <a:r>
              <a:rPr>
                <a:latin typeface="Courier"/>
              </a:rPr>
              <a:t>    </a:t>
            </a:r>
            <a:r>
              <a:rPr>
                <a:solidFill>
                  <a:srgbClr val="06287E"/>
                </a:solidFill>
                <a:latin typeface="Courier"/>
              </a:rPr>
              <a:t>html_text</a:t>
            </a:r>
            <a:r>
              <a:rPr>
                <a:latin typeface="Courier"/>
              </a:rPr>
              <a:t>(</a:t>
            </a:r>
            <a:r>
              <a:rPr>
                <a:solidFill>
                  <a:srgbClr val="7D9029"/>
                </a:solidFill>
                <a:latin typeface="Courier"/>
              </a:rPr>
              <a:t>trim =</a:t>
            </a:r>
            <a:r>
              <a:rPr>
                <a:latin typeface="Courier"/>
              </a:rPr>
              <a:t> </a:t>
            </a:r>
            <a:r>
              <a:rPr>
                <a:solidFill>
                  <a:srgbClr val="880000"/>
                </a:solidFill>
                <a:latin typeface="Courier"/>
              </a:rPr>
              <a:t>TRUE</a:t>
            </a:r>
            <a:r>
              <a:rPr>
                <a:latin typeface="Courier"/>
              </a:rPr>
              <a:t>)  </a:t>
            </a:r>
            <a:br/>
            <a:r>
              <a:rPr i="1">
                <a:solidFill>
                  <a:srgbClr val="60A0B0"/>
                </a:solidFill>
                <a:latin typeface="Courier"/>
              </a:rPr>
              <a:t># Extraire le texte brut et enlever les espaces inutiles</a:t>
            </a:r>
            <a:br/>
            <a:r>
              <a:rPr>
                <a:latin typeface="Courier"/>
              </a:rPr>
              <a:t>  </a:t>
            </a:r>
            <a:br/>
            <a:r>
              <a:rPr i="1">
                <a:solidFill>
                  <a:srgbClr val="60A0B0"/>
                </a:solidFill>
                <a:latin typeface="Courier"/>
              </a:rPr>
              <a:t># Extraction et nettoyage des genres</a:t>
            </a:r>
            <a:br/>
            <a:r>
              <a:rPr>
                <a:latin typeface="Courier"/>
              </a:rPr>
              <a:t>  genres </a:t>
            </a:r>
            <a:r>
              <a:rPr>
                <a:solidFill>
                  <a:srgbClr val="007020"/>
                </a:solidFill>
                <a:latin typeface="Courier"/>
              </a:rPr>
              <a:t>&lt;-</a:t>
            </a:r>
            <a:r>
              <a:rPr>
                <a:latin typeface="Courier"/>
              </a:rPr>
              <a:t> details </a:t>
            </a:r>
            <a:r>
              <a:rPr>
                <a:solidFill>
                  <a:srgbClr val="4070A0"/>
                </a:solidFill>
                <a:latin typeface="Courier"/>
              </a:rPr>
              <a:t>%&gt;%</a:t>
            </a:r>
            <a:br/>
            <a:r>
              <a:rPr>
                <a:latin typeface="Courier"/>
              </a:rPr>
              <a:t>    </a:t>
            </a:r>
            <a:r>
              <a:rPr>
                <a:solidFill>
                  <a:srgbClr val="06287E"/>
                </a:solidFill>
                <a:latin typeface="Courier"/>
              </a:rPr>
              <a:t>str_extract</a:t>
            </a:r>
            <a:r>
              <a:rPr>
                <a:latin typeface="Courier"/>
              </a:rPr>
              <a:t>(</a:t>
            </a:r>
            <a:r>
              <a:rPr>
                <a:solidFill>
                  <a:srgbClr val="4070A0"/>
                </a:solidFill>
                <a:latin typeface="Courier"/>
              </a:rPr>
              <a:t>"^([A-Za-z,\\s]+)"</a:t>
            </a:r>
            <a:r>
              <a:rPr>
                <a:latin typeface="Courier"/>
              </a:rPr>
              <a:t>) </a:t>
            </a:r>
            <a:r>
              <a:rPr>
                <a:solidFill>
                  <a:srgbClr val="4070A0"/>
                </a:solidFill>
                <a:latin typeface="Courier"/>
              </a:rPr>
              <a:t>%&gt;%</a:t>
            </a:r>
            <a:r>
              <a:rPr>
                <a:latin typeface="Courier"/>
              </a:rPr>
              <a:t> </a:t>
            </a:r>
            <a:br/>
            <a:r>
              <a:rPr i="1">
                <a:solidFill>
                  <a:srgbClr val="60A0B0"/>
                </a:solidFill>
                <a:latin typeface="Courier"/>
              </a:rPr>
              <a:t># Extraire les genres (lettres, virgules et espaces au début de la chaîne)</a:t>
            </a:r>
            <a:br/>
            <a:r>
              <a:rPr>
                <a:latin typeface="Courier"/>
              </a:rPr>
              <a:t>    </a:t>
            </a:r>
            <a:r>
              <a:rPr>
                <a:solidFill>
                  <a:srgbClr val="06287E"/>
                </a:solidFill>
                <a:latin typeface="Courier"/>
              </a:rPr>
              <a:t>str_replace_all</a:t>
            </a:r>
            <a:r>
              <a:rPr>
                <a:latin typeface="Courier"/>
              </a:rPr>
              <a:t>(</a:t>
            </a:r>
            <a:r>
              <a:rPr>
                <a:solidFill>
                  <a:srgbClr val="4070A0"/>
                </a:solidFill>
                <a:latin typeface="Courier"/>
              </a:rPr>
              <a:t>"\n"</a:t>
            </a:r>
            <a:r>
              <a:rPr>
                <a:latin typeface="Courier"/>
              </a:rPr>
              <a:t>, </a:t>
            </a:r>
            <a:r>
              <a:rPr>
                <a:solidFill>
                  <a:srgbClr val="4070A0"/>
                </a:solidFill>
                <a:latin typeface="Courier"/>
              </a:rPr>
              <a:t>""</a:t>
            </a:r>
            <a:r>
              <a:rPr>
                <a:latin typeface="Courier"/>
              </a:rPr>
              <a:t>) </a:t>
            </a:r>
            <a:r>
              <a:rPr>
                <a:solidFill>
                  <a:srgbClr val="4070A0"/>
                </a:solidFill>
                <a:latin typeface="Courier"/>
              </a:rPr>
              <a:t>%&gt;%</a:t>
            </a:r>
            <a:r>
              <a:rPr>
                <a:latin typeface="Courier"/>
              </a:rPr>
              <a:t>  </a:t>
            </a:r>
            <a:br/>
            <a:r>
              <a:rPr i="1">
                <a:solidFill>
                  <a:srgbClr val="60A0B0"/>
                </a:solidFill>
                <a:latin typeface="Courier"/>
              </a:rPr>
              <a:t># Supprimer les retours à la ligne</a:t>
            </a:r>
            <a:br/>
            <a:r>
              <a:rPr>
                <a:latin typeface="Courier"/>
              </a:rPr>
              <a:t>    </a:t>
            </a:r>
            <a:r>
              <a:rPr>
                <a:solidFill>
                  <a:srgbClr val="06287E"/>
                </a:solidFill>
                <a:latin typeface="Courier"/>
              </a:rPr>
              <a:t>str_replace_all</a:t>
            </a:r>
            <a:r>
              <a:rPr>
                <a:latin typeface="Courier"/>
              </a:rPr>
              <a:t>(</a:t>
            </a:r>
            <a:r>
              <a:rPr>
                <a:solidFill>
                  <a:srgbClr val="4070A0"/>
                </a:solidFill>
                <a:latin typeface="Courier"/>
              </a:rPr>
              <a:t>"\\s+"</a:t>
            </a:r>
            <a:r>
              <a:rPr>
                <a:latin typeface="Courier"/>
              </a:rPr>
              <a:t>, </a:t>
            </a:r>
            <a:r>
              <a:rPr>
                <a:solidFill>
                  <a:srgbClr val="4070A0"/>
                </a:solidFill>
                <a:latin typeface="Courier"/>
              </a:rPr>
              <a:t>" "</a:t>
            </a:r>
            <a:r>
              <a:rPr>
                <a:latin typeface="Courier"/>
              </a:rPr>
              <a:t>) </a:t>
            </a:r>
            <a:r>
              <a:rPr>
                <a:solidFill>
                  <a:srgbClr val="4070A0"/>
                </a:solidFill>
                <a:latin typeface="Courier"/>
              </a:rPr>
              <a:t>%&gt;%</a:t>
            </a:r>
            <a:br/>
            <a:r>
              <a:rPr i="1">
                <a:solidFill>
                  <a:srgbClr val="60A0B0"/>
                </a:solidFill>
                <a:latin typeface="Courier"/>
              </a:rPr>
              <a:t># Remplacer les multiples espaces par un seul</a:t>
            </a:r>
            <a:br/>
            <a:r>
              <a:rPr>
                <a:latin typeface="Courier"/>
              </a:rPr>
              <a:t>    </a:t>
            </a:r>
            <a:r>
              <a:rPr>
                <a:solidFill>
                  <a:srgbClr val="06287E"/>
                </a:solidFill>
                <a:latin typeface="Courier"/>
              </a:rPr>
              <a:t>str_trim</a:t>
            </a:r>
            <a:r>
              <a:rPr>
                <a:latin typeface="Courier"/>
              </a:rPr>
              <a:t>()  </a:t>
            </a:r>
            <a:br/>
            <a:r>
              <a:rPr i="1">
                <a:solidFill>
                  <a:srgbClr val="60A0B0"/>
                </a:solidFill>
                <a:latin typeface="Courier"/>
              </a:rPr>
              <a:t># Enlever les espaces avant et après le texte</a:t>
            </a:r>
            <a:br/>
            <a:r>
              <a:rPr>
                <a:latin typeface="Courier"/>
              </a:rPr>
              <a:t>  </a:t>
            </a:r>
            <a:br/>
            <a:r>
              <a:rPr i="1">
                <a:solidFill>
                  <a:srgbClr val="60A0B0"/>
                </a:solidFill>
                <a:latin typeface="Courier"/>
              </a:rPr>
              <a:t># Vérification et alignement des données</a:t>
            </a:r>
            <a:br/>
            <a:r>
              <a:rPr>
                <a:latin typeface="Courier"/>
              </a:rPr>
              <a:t>  n </a:t>
            </a:r>
            <a:r>
              <a:rPr>
                <a:solidFill>
                  <a:srgbClr val="007020"/>
                </a:solidFill>
                <a:latin typeface="Courier"/>
              </a:rPr>
              <a:t>&lt;-</a:t>
            </a:r>
            <a:r>
              <a:rPr>
                <a:latin typeface="Courier"/>
              </a:rPr>
              <a:t> </a:t>
            </a:r>
            <a:r>
              <a:rPr>
                <a:solidFill>
                  <a:srgbClr val="06287E"/>
                </a:solidFill>
                <a:latin typeface="Courier"/>
              </a:rPr>
              <a:t>min</a:t>
            </a:r>
            <a:r>
              <a:rPr>
                <a:latin typeface="Courier"/>
              </a:rPr>
              <a:t>(</a:t>
            </a:r>
            <a:r>
              <a:rPr>
                <a:solidFill>
                  <a:srgbClr val="06287E"/>
                </a:solidFill>
                <a:latin typeface="Courier"/>
              </a:rPr>
              <a:t>length</a:t>
            </a:r>
            <a:r>
              <a:rPr>
                <a:latin typeface="Courier"/>
              </a:rPr>
              <a:t>(titles), </a:t>
            </a:r>
            <a:r>
              <a:rPr>
                <a:solidFill>
                  <a:srgbClr val="06287E"/>
                </a:solidFill>
                <a:latin typeface="Courier"/>
              </a:rPr>
              <a:t>length</a:t>
            </a:r>
            <a:r>
              <a:rPr>
                <a:latin typeface="Courier"/>
              </a:rPr>
              <a:t>(genres))  </a:t>
            </a:r>
            <a:br/>
            <a:r>
              <a:rPr i="1">
                <a:solidFill>
                  <a:srgbClr val="60A0B0"/>
                </a:solidFill>
                <a:latin typeface="Courier"/>
              </a:rPr>
              <a:t># Assurer que les titres et genres ont la même longueur</a:t>
            </a:r>
            <a:br/>
            <a:r>
              <a:rPr>
                <a:latin typeface="Courier"/>
              </a:rPr>
              <a:t>  titles </a:t>
            </a:r>
            <a:r>
              <a:rPr>
                <a:solidFill>
                  <a:srgbClr val="007020"/>
                </a:solidFill>
                <a:latin typeface="Courier"/>
              </a:rPr>
              <a:t>&lt;-</a:t>
            </a:r>
            <a:r>
              <a:rPr>
                <a:latin typeface="Courier"/>
              </a:rPr>
              <a:t> titles[</a:t>
            </a:r>
            <a:r>
              <a:rPr>
                <a:solidFill>
                  <a:srgbClr val="40A070"/>
                </a:solidFill>
                <a:latin typeface="Courier"/>
              </a:rPr>
              <a:t>1</a:t>
            </a:r>
            <a:r>
              <a:rPr>
                <a:solidFill>
                  <a:srgbClr val="4070A0"/>
                </a:solidFill>
                <a:latin typeface="Courier"/>
              </a:rPr>
              <a:t>:</a:t>
            </a:r>
            <a:r>
              <a:rPr>
                <a:latin typeface="Courier"/>
              </a:rPr>
              <a:t>n]  </a:t>
            </a:r>
            <a:br/>
            <a:r>
              <a:rPr i="1">
                <a:solidFill>
                  <a:srgbClr val="60A0B0"/>
                </a:solidFill>
                <a:latin typeface="Courier"/>
              </a:rPr>
              <a:t># Limiter les titres à la longueur minimale</a:t>
            </a:r>
            <a:br/>
            <a:r>
              <a:rPr>
                <a:latin typeface="Courier"/>
              </a:rPr>
              <a:t>  genres </a:t>
            </a:r>
            <a:r>
              <a:rPr>
                <a:solidFill>
                  <a:srgbClr val="007020"/>
                </a:solidFill>
                <a:latin typeface="Courier"/>
              </a:rPr>
              <a:t>&lt;-</a:t>
            </a:r>
            <a:r>
              <a:rPr>
                <a:latin typeface="Courier"/>
              </a:rPr>
              <a:t> genres[</a:t>
            </a:r>
            <a:r>
              <a:rPr>
                <a:solidFill>
                  <a:srgbClr val="40A070"/>
                </a:solidFill>
                <a:latin typeface="Courier"/>
              </a:rPr>
              <a:t>1</a:t>
            </a:r>
            <a:r>
              <a:rPr>
                <a:solidFill>
                  <a:srgbClr val="4070A0"/>
                </a:solidFill>
                <a:latin typeface="Courier"/>
              </a:rPr>
              <a:t>:</a:t>
            </a:r>
            <a:r>
              <a:rPr>
                <a:latin typeface="Courier"/>
              </a:rPr>
              <a:t>n]  </a:t>
            </a:r>
            <a:br/>
            <a:r>
              <a:rPr i="1">
                <a:solidFill>
                  <a:srgbClr val="60A0B0"/>
                </a:solidFill>
                <a:latin typeface="Courier"/>
              </a:rPr>
              <a:t># Limiter les genres à la longueur minimale</a:t>
            </a:r>
            <a:br/>
            <a:r>
              <a:rPr>
                <a:latin typeface="Courier"/>
              </a:rPr>
              <a:t>  </a:t>
            </a:r>
            <a:br/>
            <a:r>
              <a:rPr i="1">
                <a:solidFill>
                  <a:srgbClr val="60A0B0"/>
                </a:solidFill>
                <a:latin typeface="Courier"/>
              </a:rPr>
              <a:t># Retourner un tableau avec les titres et genres des séries</a:t>
            </a:r>
            <a:br/>
            <a:r>
              <a:rPr>
                <a:latin typeface="Courier"/>
              </a:rPr>
              <a:t>  </a:t>
            </a:r>
            <a:r>
              <a:rPr>
                <a:solidFill>
                  <a:srgbClr val="06287E"/>
                </a:solidFill>
                <a:latin typeface="Courier"/>
              </a:rPr>
              <a:t>data.frame</a:t>
            </a:r>
            <a:r>
              <a:rPr>
                <a:latin typeface="Courier"/>
              </a:rPr>
              <a:t>(</a:t>
            </a:r>
            <a:br/>
            <a:r>
              <a:rPr>
                <a:latin typeface="Courier"/>
              </a:rPr>
              <a:t>    </a:t>
            </a:r>
            <a:r>
              <a:rPr>
                <a:solidFill>
                  <a:srgbClr val="7D9029"/>
                </a:solidFill>
                <a:latin typeface="Courier"/>
              </a:rPr>
              <a:t>Title =</a:t>
            </a:r>
            <a:r>
              <a:rPr>
                <a:latin typeface="Courier"/>
              </a:rPr>
              <a:t> titles,</a:t>
            </a:r>
            <a:br/>
            <a:r>
              <a:rPr>
                <a:latin typeface="Courier"/>
              </a:rPr>
              <a:t>    </a:t>
            </a:r>
            <a:r>
              <a:rPr>
                <a:solidFill>
                  <a:srgbClr val="7D9029"/>
                </a:solidFill>
                <a:latin typeface="Courier"/>
              </a:rPr>
              <a:t>Genre =</a:t>
            </a:r>
            <a:r>
              <a:rPr>
                <a:latin typeface="Courier"/>
              </a:rPr>
              <a:t> genres,</a:t>
            </a:r>
            <a:br/>
            <a:r>
              <a:rPr>
                <a:latin typeface="Courier"/>
              </a:rPr>
              <a:t>    </a:t>
            </a:r>
            <a:r>
              <a:rPr>
                <a:solidFill>
                  <a:srgbClr val="7D9029"/>
                </a:solidFill>
                <a:latin typeface="Courier"/>
              </a:rPr>
              <a:t>stringsAsFactors =</a:t>
            </a:r>
            <a:r>
              <a:rPr>
                <a:latin typeface="Courier"/>
              </a:rPr>
              <a:t> </a:t>
            </a:r>
            <a:r>
              <a:rPr>
                <a:solidFill>
                  <a:srgbClr val="880000"/>
                </a:solidFill>
                <a:latin typeface="Courier"/>
              </a:rPr>
              <a:t>FALSE</a:t>
            </a:r>
            <a:r>
              <a:rPr>
                <a:latin typeface="Courier"/>
              </a:rPr>
              <a:t>  </a:t>
            </a:r>
            <a:r>
              <a:rPr i="1">
                <a:solidFill>
                  <a:srgbClr val="60A0B0"/>
                </a:solidFill>
                <a:latin typeface="Courier"/>
              </a:rPr>
              <a:t># Ne pas convertir les chaînes en facteurs</a:t>
            </a:r>
            <a:br/>
            <a:r>
              <a:rPr>
                <a:latin typeface="Courier"/>
              </a:rPr>
              <a:t>  )</a:t>
            </a:r>
            <a:br/>
            <a:r>
              <a:rPr>
                <a:latin typeface="Courier"/>
              </a:rPr>
              <a:t>}</a:t>
            </a:r>
            <a:br/>
            <a:br/>
            <a:r>
              <a:rPr i="1">
                <a:solidFill>
                  <a:srgbClr val="60A0B0"/>
                </a:solidFill>
                <a:latin typeface="Courier"/>
              </a:rPr>
              <a:t># Initialisation d'un tableau vide pour stocker les informations de toutes les pages</a:t>
            </a:r>
            <a:br/>
            <a:r>
              <a:rPr>
                <a:latin typeface="Courier"/>
              </a:rPr>
              <a:t>series_data </a:t>
            </a:r>
            <a:r>
              <a:rPr>
                <a:solidFill>
                  <a:srgbClr val="007020"/>
                </a:solidFill>
                <a:latin typeface="Courier"/>
              </a:rPr>
              <a:t>&lt;-</a:t>
            </a:r>
            <a:r>
              <a:rPr>
                <a:latin typeface="Courier"/>
              </a:rPr>
              <a:t> </a:t>
            </a:r>
            <a:r>
              <a:rPr>
                <a:solidFill>
                  <a:srgbClr val="06287E"/>
                </a:solidFill>
                <a:latin typeface="Courier"/>
              </a:rPr>
              <a:t>data.frame</a:t>
            </a:r>
            <a:r>
              <a:rPr>
                <a:latin typeface="Courier"/>
              </a:rPr>
              <a:t>()</a:t>
            </a:r>
            <a:br/>
            <a:br/>
            <a:r>
              <a:rPr i="1">
                <a:solidFill>
                  <a:srgbClr val="60A0B0"/>
                </a:solidFill>
                <a:latin typeface="Courier"/>
              </a:rPr>
              <a:t>#sur Allociné chaque page content 15 séries</a:t>
            </a:r>
            <a:br/>
            <a:br/>
            <a:r>
              <a:rPr i="1">
                <a:solidFill>
                  <a:srgbClr val="60A0B0"/>
                </a:solidFill>
                <a:latin typeface="Courier"/>
              </a:rPr>
              <a:t># Itération sur les pages pour obtenir les 200 premières séries</a:t>
            </a:r>
            <a:br/>
            <a:r>
              <a:rPr b="1">
                <a:solidFill>
                  <a:srgbClr val="007020"/>
                </a:solidFill>
                <a:latin typeface="Courier"/>
              </a:rPr>
              <a:t>for</a:t>
            </a:r>
            <a:r>
              <a:rPr>
                <a:latin typeface="Courier"/>
              </a:rPr>
              <a:t> (i </a:t>
            </a:r>
            <a:r>
              <a:rPr b="1">
                <a:solidFill>
                  <a:srgbClr val="007020"/>
                </a:solidFill>
                <a:latin typeface="Courier"/>
              </a:rPr>
              <a:t>in</a:t>
            </a:r>
            <a:r>
              <a:rPr>
                <a:latin typeface="Courier"/>
              </a:rPr>
              <a:t> </a:t>
            </a:r>
            <a:r>
              <a:rPr>
                <a:solidFill>
                  <a:srgbClr val="40A070"/>
                </a:solidFill>
                <a:latin typeface="Courier"/>
              </a:rPr>
              <a:t>1</a:t>
            </a:r>
            <a:r>
              <a:rPr>
                <a:solidFill>
                  <a:srgbClr val="4070A0"/>
                </a:solidFill>
                <a:latin typeface="Courier"/>
              </a:rPr>
              <a:t>:</a:t>
            </a:r>
            <a:r>
              <a:rPr>
                <a:solidFill>
                  <a:srgbClr val="40A070"/>
                </a:solidFill>
                <a:latin typeface="Courier"/>
              </a:rPr>
              <a:t>10</a:t>
            </a:r>
            <a:r>
              <a:rPr>
                <a:latin typeface="Courier"/>
              </a:rPr>
              <a:t>) {  </a:t>
            </a:r>
            <a:r>
              <a:rPr i="1">
                <a:solidFill>
                  <a:srgbClr val="60A0B0"/>
                </a:solidFill>
                <a:latin typeface="Courier"/>
              </a:rPr>
              <a:t># Boucle sur 10 pages (10 x 15 = 150 séries environ)</a:t>
            </a:r>
            <a:br/>
            <a:r>
              <a:rPr>
                <a:latin typeface="Courier"/>
              </a:rPr>
              <a:t>  page_data </a:t>
            </a:r>
            <a:r>
              <a:rPr>
                <a:solidFill>
                  <a:srgbClr val="007020"/>
                </a:solidFill>
                <a:latin typeface="Courier"/>
              </a:rPr>
              <a:t>&lt;-</a:t>
            </a:r>
            <a:r>
              <a:rPr>
                <a:latin typeface="Courier"/>
              </a:rPr>
              <a:t> </a:t>
            </a:r>
            <a:r>
              <a:rPr>
                <a:solidFill>
                  <a:srgbClr val="06287E"/>
                </a:solidFill>
                <a:latin typeface="Courier"/>
              </a:rPr>
              <a:t>get_series_info</a:t>
            </a:r>
            <a:r>
              <a:rPr>
                <a:latin typeface="Courier"/>
              </a:rPr>
              <a:t>(i)  </a:t>
            </a:r>
            <a:r>
              <a:rPr i="1">
                <a:solidFill>
                  <a:srgbClr val="60A0B0"/>
                </a:solidFill>
                <a:latin typeface="Courier"/>
              </a:rPr>
              <a:t># Extraire les informations de la page courante</a:t>
            </a:r>
            <a:br/>
            <a:r>
              <a:rPr>
                <a:latin typeface="Courier"/>
              </a:rPr>
              <a:t>  series_data </a:t>
            </a:r>
            <a:r>
              <a:rPr>
                <a:solidFill>
                  <a:srgbClr val="007020"/>
                </a:solidFill>
                <a:latin typeface="Courier"/>
              </a:rPr>
              <a:t>&lt;-</a:t>
            </a:r>
            <a:r>
              <a:rPr>
                <a:latin typeface="Courier"/>
              </a:rPr>
              <a:t> </a:t>
            </a:r>
            <a:r>
              <a:rPr>
                <a:solidFill>
                  <a:srgbClr val="06287E"/>
                </a:solidFill>
                <a:latin typeface="Courier"/>
              </a:rPr>
              <a:t>bind_rows</a:t>
            </a:r>
            <a:r>
              <a:rPr>
                <a:latin typeface="Courier"/>
              </a:rPr>
              <a:t>(series_data, page_data)</a:t>
            </a:r>
            <a:br/>
            <a:r>
              <a:rPr>
                <a:latin typeface="Courier"/>
              </a:rPr>
              <a:t>  </a:t>
            </a:r>
            <a:r>
              <a:rPr i="1">
                <a:solidFill>
                  <a:srgbClr val="60A0B0"/>
                </a:solidFill>
                <a:latin typeface="Courier"/>
              </a:rPr>
              <a:t># Ajouter les données de la page à la base de données principale</a:t>
            </a:r>
            <a:br/>
            <a:r>
              <a:rPr>
                <a:latin typeface="Courier"/>
              </a:rPr>
              <a:t>}</a:t>
            </a:r>
            <a:br/>
            <a:br/>
            <a:r>
              <a:rPr i="1">
                <a:solidFill>
                  <a:srgbClr val="60A0B0"/>
                </a:solidFill>
                <a:latin typeface="Courier"/>
              </a:rPr>
              <a:t># Vérification des résultats</a:t>
            </a:r>
            <a:br/>
            <a:r>
              <a:rPr>
                <a:solidFill>
                  <a:srgbClr val="06287E"/>
                </a:solidFill>
                <a:latin typeface="Courier"/>
              </a:rPr>
              <a:t>print</a:t>
            </a:r>
            <a:r>
              <a:rPr>
                <a:latin typeface="Courier"/>
              </a:rPr>
              <a:t>(</a:t>
            </a:r>
            <a:r>
              <a:rPr>
                <a:solidFill>
                  <a:srgbClr val="06287E"/>
                </a:solidFill>
                <a:latin typeface="Courier"/>
              </a:rPr>
              <a:t>nrow</a:t>
            </a:r>
            <a:r>
              <a:rPr>
                <a:latin typeface="Courier"/>
              </a:rPr>
              <a:t>(series_data))  </a:t>
            </a:r>
            <a:r>
              <a:rPr i="1">
                <a:solidFill>
                  <a:srgbClr val="60A0B0"/>
                </a:solidFill>
                <a:latin typeface="Courier"/>
              </a:rPr>
              <a:t># Afficher le nombre total de séries extraites</a:t>
            </a:r>
          </a:p>
          <a:p>
            <a:pPr lvl="0" indent="0">
              <a:buNone/>
            </a:pPr>
            <a:r>
              <a:rPr>
                <a:latin typeface="Courier"/>
              </a:rPr>
              <a:t>## [1] 150</a:t>
            </a:r>
          </a:p>
          <a:p>
            <a:pPr lvl="0" indent="0">
              <a:buNone/>
            </a:pPr>
            <a:r>
              <a:rPr>
                <a:solidFill>
                  <a:srgbClr val="06287E"/>
                </a:solidFill>
                <a:latin typeface="Courier"/>
              </a:rPr>
              <a:t>head</a:t>
            </a:r>
            <a:r>
              <a:rPr>
                <a:latin typeface="Courier"/>
              </a:rPr>
              <a:t>(series_data, </a:t>
            </a:r>
            <a:r>
              <a:rPr>
                <a:solidFill>
                  <a:srgbClr val="40A070"/>
                </a:solidFill>
                <a:latin typeface="Courier"/>
              </a:rPr>
              <a:t>15</a:t>
            </a:r>
            <a:r>
              <a:rPr>
                <a:latin typeface="Courier"/>
              </a:rPr>
              <a:t>)     </a:t>
            </a:r>
            <a:r>
              <a:rPr i="1">
                <a:solidFill>
                  <a:srgbClr val="60A0B0"/>
                </a:solidFill>
                <a:latin typeface="Courier"/>
              </a:rPr>
              <a:t># Afficher les 15 premières séries extraites</a:t>
            </a:r>
          </a:p>
          <a:p>
            <a:pPr lvl="0" indent="0">
              <a:buNone/>
            </a:pPr>
            <a:r>
              <a:rPr>
                <a:latin typeface="Courier"/>
              </a:rPr>
              <a:t>##                                   Title
## 1                          Breaking Bad
## 2                       Game of Thrones
## 3                             Chernobyl
## 4                                Arcane
## 5                         Notre planète
## 6                        Peaky Blinders
## 7  Apocalypse - La 1ère Guerre Mondiale
## 8                  L'Attaque des Titans
## 9                                  1883
## 10               Hunter X Hunter (2011)
## 11                       The Last Dance
## 12                             Sherlock
## 13                               Samuel
## 14                            Severance
## 15                      Stranger Things
##                                           Genre
## 1                                         Drame
## 2                            Drame, Fantastique
## 3                                         Drame
## 4  Action, Aventure, Animation, Science Fiction
## 5                                  Documentaire
## 6                   Policier, Drame, Historique
## 7       Documentaire, Drame, Historique, Guerre
## 8                   Action, Aventure, Animation
## 9                    Drame, Historique, Western
## 10                     Aventure, Animation, Com
## 11                                 Documentaire
## 12                    Policier, Drame, Thriller
## 13                               Animation, Com
## 14                              Drame, Thriller
## 15                Drame, Fantastique, Epouvante</a:t>
            </a:r>
          </a:p>
          <a:p>
            <a:pPr lvl="0" indent="0">
              <a:buNone/>
            </a:pPr>
            <a:r>
              <a:rPr i="1">
                <a:solidFill>
                  <a:srgbClr val="60A0B0"/>
                </a:solidFill>
                <a:latin typeface="Courier"/>
              </a:rPr>
              <a:t># Séparer les genres dans des lignes individuelles</a:t>
            </a:r>
            <a:br/>
            <a:r>
              <a:rPr>
                <a:latin typeface="Courier"/>
              </a:rPr>
              <a:t>genre_data </a:t>
            </a:r>
            <a:r>
              <a:rPr>
                <a:solidFill>
                  <a:srgbClr val="007020"/>
                </a:solidFill>
                <a:latin typeface="Courier"/>
              </a:rPr>
              <a:t>&lt;-</a:t>
            </a:r>
            <a:r>
              <a:rPr>
                <a:latin typeface="Courier"/>
              </a:rPr>
              <a:t> series_data </a:t>
            </a:r>
            <a:r>
              <a:rPr>
                <a:solidFill>
                  <a:srgbClr val="4070A0"/>
                </a:solidFill>
                <a:latin typeface="Courier"/>
              </a:rPr>
              <a:t>%&gt;%</a:t>
            </a:r>
            <a:br/>
            <a:r>
              <a:rPr>
                <a:latin typeface="Courier"/>
              </a:rPr>
              <a:t>  </a:t>
            </a:r>
            <a:r>
              <a:rPr>
                <a:solidFill>
                  <a:srgbClr val="06287E"/>
                </a:solidFill>
                <a:latin typeface="Courier"/>
              </a:rPr>
              <a:t>separate_rows</a:t>
            </a:r>
            <a:r>
              <a:rPr>
                <a:latin typeface="Courier"/>
              </a:rPr>
              <a:t>(Genre, </a:t>
            </a:r>
            <a:r>
              <a:rPr>
                <a:solidFill>
                  <a:srgbClr val="7D9029"/>
                </a:solidFill>
                <a:latin typeface="Courier"/>
              </a:rPr>
              <a:t>sep =</a:t>
            </a:r>
            <a:r>
              <a:rPr>
                <a:latin typeface="Courier"/>
              </a:rPr>
              <a:t> </a:t>
            </a:r>
            <a:r>
              <a:rPr>
                <a:solidFill>
                  <a:srgbClr val="4070A0"/>
                </a:solidFill>
                <a:latin typeface="Courier"/>
              </a:rPr>
              <a:t>","</a:t>
            </a:r>
            <a:r>
              <a:rPr>
                <a:latin typeface="Courier"/>
              </a:rPr>
              <a:t>) </a:t>
            </a:r>
            <a:r>
              <a:rPr>
                <a:solidFill>
                  <a:srgbClr val="4070A0"/>
                </a:solidFill>
                <a:latin typeface="Courier"/>
              </a:rPr>
              <a:t>%&gt;%</a:t>
            </a:r>
            <a:r>
              <a:rPr>
                <a:latin typeface="Courier"/>
              </a:rPr>
              <a:t>  </a:t>
            </a:r>
            <a:r>
              <a:rPr i="1">
                <a:solidFill>
                  <a:srgbClr val="60A0B0"/>
                </a:solidFill>
                <a:latin typeface="Courier"/>
              </a:rPr>
              <a:t># Séparer les genres par une virgule et créer une ligne pour chaque genre</a:t>
            </a:r>
            <a:br/>
            <a:r>
              <a:rPr>
                <a:latin typeface="Courier"/>
              </a:rPr>
              <a:t>  </a:t>
            </a:r>
            <a:r>
              <a:rPr>
                <a:solidFill>
                  <a:srgbClr val="06287E"/>
                </a:solidFill>
                <a:latin typeface="Courier"/>
              </a:rPr>
              <a:t>mutate</a:t>
            </a:r>
            <a:r>
              <a:rPr>
                <a:latin typeface="Courier"/>
              </a:rPr>
              <a:t>(</a:t>
            </a:r>
            <a:r>
              <a:rPr>
                <a:solidFill>
                  <a:srgbClr val="7D9029"/>
                </a:solidFill>
                <a:latin typeface="Courier"/>
              </a:rPr>
              <a:t>Genre =</a:t>
            </a:r>
            <a:r>
              <a:rPr>
                <a:latin typeface="Courier"/>
              </a:rPr>
              <a:t> </a:t>
            </a:r>
            <a:r>
              <a:rPr>
                <a:solidFill>
                  <a:srgbClr val="06287E"/>
                </a:solidFill>
                <a:latin typeface="Courier"/>
              </a:rPr>
              <a:t>str_trim</a:t>
            </a:r>
            <a:r>
              <a:rPr>
                <a:latin typeface="Courier"/>
              </a:rPr>
              <a:t>(Genre))       </a:t>
            </a:r>
            <a:r>
              <a:rPr i="1">
                <a:solidFill>
                  <a:srgbClr val="60A0B0"/>
                </a:solidFill>
                <a:latin typeface="Courier"/>
              </a:rPr>
              <a:t># Supprimer les espaces inutiles autour de chaque genre</a:t>
            </a:r>
            <a:br/>
            <a:br/>
            <a:r>
              <a:rPr i="1">
                <a:solidFill>
                  <a:srgbClr val="60A0B0"/>
                </a:solidFill>
                <a:latin typeface="Courier"/>
              </a:rPr>
              <a:t># Compter les occurrences de chaque genre</a:t>
            </a:r>
            <a:br/>
            <a:r>
              <a:rPr>
                <a:latin typeface="Courier"/>
              </a:rPr>
              <a:t>genre_counts </a:t>
            </a:r>
            <a:r>
              <a:rPr>
                <a:solidFill>
                  <a:srgbClr val="007020"/>
                </a:solidFill>
                <a:latin typeface="Courier"/>
              </a:rPr>
              <a:t>&lt;-</a:t>
            </a:r>
            <a:r>
              <a:rPr>
                <a:latin typeface="Courier"/>
              </a:rPr>
              <a:t> genre_data </a:t>
            </a:r>
            <a:r>
              <a:rPr>
                <a:solidFill>
                  <a:srgbClr val="4070A0"/>
                </a:solidFill>
                <a:latin typeface="Courier"/>
              </a:rPr>
              <a:t>%&gt;%</a:t>
            </a:r>
            <a:br/>
            <a:r>
              <a:rPr>
                <a:latin typeface="Courier"/>
              </a:rPr>
              <a:t>  </a:t>
            </a:r>
            <a:r>
              <a:rPr>
                <a:solidFill>
                  <a:srgbClr val="06287E"/>
                </a:solidFill>
                <a:latin typeface="Courier"/>
              </a:rPr>
              <a:t>group_by</a:t>
            </a:r>
            <a:r>
              <a:rPr>
                <a:latin typeface="Courier"/>
              </a:rPr>
              <a:t>(Genre) </a:t>
            </a:r>
            <a:r>
              <a:rPr>
                <a:solidFill>
                  <a:srgbClr val="4070A0"/>
                </a:solidFill>
                <a:latin typeface="Courier"/>
              </a:rPr>
              <a:t>%&gt;%</a:t>
            </a:r>
            <a:r>
              <a:rPr>
                <a:latin typeface="Courier"/>
              </a:rPr>
              <a:t>              </a:t>
            </a:r>
            <a:r>
              <a:rPr i="1">
                <a:solidFill>
                  <a:srgbClr val="60A0B0"/>
                </a:solidFill>
                <a:latin typeface="Courier"/>
              </a:rPr>
              <a:t># Grouper les données par genre</a:t>
            </a:r>
            <a:br/>
            <a:r>
              <a:rPr>
                <a:latin typeface="Courier"/>
              </a:rPr>
              <a:t>  </a:t>
            </a:r>
            <a:r>
              <a:rPr>
                <a:solidFill>
                  <a:srgbClr val="06287E"/>
                </a:solidFill>
                <a:latin typeface="Courier"/>
              </a:rPr>
              <a:t>summarise</a:t>
            </a:r>
            <a:r>
              <a:rPr>
                <a:latin typeface="Courier"/>
              </a:rPr>
              <a:t>(</a:t>
            </a:r>
            <a:r>
              <a:rPr>
                <a:solidFill>
                  <a:srgbClr val="7D9029"/>
                </a:solidFill>
                <a:latin typeface="Courier"/>
              </a:rPr>
              <a:t>Count =</a:t>
            </a:r>
            <a:r>
              <a:rPr>
                <a:latin typeface="Courier"/>
              </a:rPr>
              <a:t> </a:t>
            </a:r>
            <a:r>
              <a:rPr>
                <a:solidFill>
                  <a:srgbClr val="06287E"/>
                </a:solidFill>
                <a:latin typeface="Courier"/>
              </a:rPr>
              <a:t>n</a:t>
            </a:r>
            <a:r>
              <a:rPr>
                <a:latin typeface="Courier"/>
              </a:rPr>
              <a:t>()) </a:t>
            </a:r>
            <a:r>
              <a:rPr>
                <a:solidFill>
                  <a:srgbClr val="4070A0"/>
                </a:solidFill>
                <a:latin typeface="Courier"/>
              </a:rPr>
              <a:t>%&gt;%</a:t>
            </a:r>
            <a:r>
              <a:rPr>
                <a:latin typeface="Courier"/>
              </a:rPr>
              <a:t>       </a:t>
            </a:r>
            <a:r>
              <a:rPr i="1">
                <a:solidFill>
                  <a:srgbClr val="60A0B0"/>
                </a:solidFill>
                <a:latin typeface="Courier"/>
              </a:rPr>
              <a:t># Compter combien de fois chaque genre apparaît</a:t>
            </a:r>
            <a:br/>
            <a:r>
              <a:rPr>
                <a:latin typeface="Courier"/>
              </a:rPr>
              <a:t>  </a:t>
            </a:r>
            <a:r>
              <a:rPr>
                <a:solidFill>
                  <a:srgbClr val="06287E"/>
                </a:solidFill>
                <a:latin typeface="Courier"/>
              </a:rPr>
              <a:t>arrange</a:t>
            </a:r>
            <a:r>
              <a:rPr>
                <a:latin typeface="Courier"/>
              </a:rPr>
              <a:t>(</a:t>
            </a:r>
            <a:r>
              <a:rPr>
                <a:solidFill>
                  <a:srgbClr val="06287E"/>
                </a:solidFill>
                <a:latin typeface="Courier"/>
              </a:rPr>
              <a:t>desc</a:t>
            </a:r>
            <a:r>
              <a:rPr>
                <a:latin typeface="Courier"/>
              </a:rPr>
              <a:t>(Count))             </a:t>
            </a:r>
            <a:r>
              <a:rPr i="1">
                <a:solidFill>
                  <a:srgbClr val="60A0B0"/>
                </a:solidFill>
                <a:latin typeface="Courier"/>
              </a:rPr>
              <a:t># Trier les genres par ordre décroissant des occurrences</a:t>
            </a:r>
            <a:br/>
            <a:br/>
            <a:r>
              <a:rPr i="1">
                <a:solidFill>
                  <a:srgbClr val="60A0B0"/>
                </a:solidFill>
                <a:latin typeface="Courier"/>
              </a:rPr>
              <a:t># Afficher les genres les plus fréquents</a:t>
            </a:r>
            <a:br/>
            <a:r>
              <a:rPr>
                <a:solidFill>
                  <a:srgbClr val="06287E"/>
                </a:solidFill>
                <a:latin typeface="Courier"/>
              </a:rPr>
              <a:t>print</a:t>
            </a:r>
            <a:r>
              <a:rPr>
                <a:latin typeface="Courier"/>
              </a:rPr>
              <a:t>(genre_counts)  </a:t>
            </a:r>
            <a:r>
              <a:rPr i="1">
                <a:solidFill>
                  <a:srgbClr val="60A0B0"/>
                </a:solidFill>
                <a:latin typeface="Courier"/>
              </a:rPr>
              <a:t># Affiche le tableau des genres et de leurs fréquences</a:t>
            </a:r>
          </a:p>
          <a:p>
            <a:pPr lvl="0" indent="0">
              <a:buNone/>
            </a:pPr>
            <a:r>
              <a:rPr>
                <a:latin typeface="Courier"/>
              </a:rPr>
              <a:t>## # A tibble: 24 × 2
##    Genre           Count
##    &lt;chr&gt;           &lt;int&gt;
##  1 Drame              87
##  2 Animation          29
##  3 Thriller           28
##  4 Action             27
##  5 Com                26
##  6 Policier           20
##  7 Aventure           18
##  8 Fantastique        17
##  9 Historique         16
## 10 Science Fiction    14
## # ℹ 14 more rows</a:t>
            </a:r>
          </a:p>
          <a:p>
            <a:pPr marL="0" lvl="0" indent="0">
              <a:buNone/>
            </a:pPr>
            <a:r>
              <a:t>L’analyse des genres des séries montre que </a:t>
            </a:r>
            <a:r>
              <a:rPr b="1"/>
              <a:t>le genre Drame</a:t>
            </a:r>
            <a:r>
              <a:t> est de loin le plus populaire, représentant une part importante des séries étudiées avec </a:t>
            </a:r>
            <a:r>
              <a:rPr b="1"/>
              <a:t>87 occurrences</a:t>
            </a:r>
            <a:r>
              <a:t>. Les genres </a:t>
            </a:r>
            <a:r>
              <a:rPr b="1"/>
              <a:t>Animation (29)</a:t>
            </a:r>
            <a:r>
              <a:t>, </a:t>
            </a:r>
            <a:r>
              <a:rPr b="1"/>
              <a:t>Thriller (28)</a:t>
            </a:r>
            <a:r>
              <a:t> et </a:t>
            </a:r>
            <a:r>
              <a:rPr b="1"/>
              <a:t>Action (26)</a:t>
            </a:r>
            <a:r>
              <a:t> suivent avec des fréquences relativement élevées, montrant une préférence pour les séries d’action et d’aventure. En revanche, les genres comme </a:t>
            </a:r>
            <a:r>
              <a:rPr b="1"/>
              <a:t>Policier (20)</a:t>
            </a:r>
            <a:r>
              <a:t>, </a:t>
            </a:r>
            <a:r>
              <a:rPr b="1"/>
              <a:t>Aventure (18)</a:t>
            </a:r>
            <a:r>
              <a:t> et </a:t>
            </a:r>
            <a:r>
              <a:rPr b="1"/>
              <a:t>Science Fiction (14)</a:t>
            </a:r>
            <a:r>
              <a:t> sont moins représentés, mais ils continuent d’attirer un certain public, bien que leur présence soit inférieure.</a:t>
            </a:r>
          </a:p>
          <a:p>
            <a:pPr lvl="0" indent="0">
              <a:buNone/>
            </a:pPr>
            <a:r>
              <a:rPr i="1">
                <a:solidFill>
                  <a:srgbClr val="60A0B0"/>
                </a:solidFill>
                <a:latin typeface="Courier"/>
              </a:rPr>
              <a:t># Séparer les genres en lignes individuelles</a:t>
            </a:r>
            <a:br/>
            <a:r>
              <a:rPr>
                <a:latin typeface="Courier"/>
              </a:rPr>
              <a:t>genre_data </a:t>
            </a:r>
            <a:r>
              <a:rPr>
                <a:solidFill>
                  <a:srgbClr val="007020"/>
                </a:solidFill>
                <a:latin typeface="Courier"/>
              </a:rPr>
              <a:t>&lt;-</a:t>
            </a:r>
            <a:r>
              <a:rPr>
                <a:latin typeface="Courier"/>
              </a:rPr>
              <a:t> series_data </a:t>
            </a:r>
            <a:r>
              <a:rPr>
                <a:solidFill>
                  <a:srgbClr val="4070A0"/>
                </a:solidFill>
                <a:latin typeface="Courier"/>
              </a:rPr>
              <a:t>%&gt;%</a:t>
            </a:r>
            <a:br/>
            <a:r>
              <a:rPr>
                <a:latin typeface="Courier"/>
              </a:rPr>
              <a:t>  </a:t>
            </a:r>
            <a:r>
              <a:rPr>
                <a:solidFill>
                  <a:srgbClr val="06287E"/>
                </a:solidFill>
                <a:latin typeface="Courier"/>
              </a:rPr>
              <a:t>separate_rows</a:t>
            </a:r>
            <a:r>
              <a:rPr>
                <a:latin typeface="Courier"/>
              </a:rPr>
              <a:t>(Genre, </a:t>
            </a:r>
            <a:r>
              <a:rPr>
                <a:solidFill>
                  <a:srgbClr val="7D9029"/>
                </a:solidFill>
                <a:latin typeface="Courier"/>
              </a:rPr>
              <a:t>sep =</a:t>
            </a:r>
            <a:r>
              <a:rPr>
                <a:latin typeface="Courier"/>
              </a:rPr>
              <a:t> </a:t>
            </a:r>
            <a:r>
              <a:rPr>
                <a:solidFill>
                  <a:srgbClr val="4070A0"/>
                </a:solidFill>
                <a:latin typeface="Courier"/>
              </a:rPr>
              <a:t>","</a:t>
            </a:r>
            <a:r>
              <a:rPr>
                <a:latin typeface="Courier"/>
              </a:rPr>
              <a:t>) </a:t>
            </a:r>
            <a:r>
              <a:rPr>
                <a:solidFill>
                  <a:srgbClr val="4070A0"/>
                </a:solidFill>
                <a:latin typeface="Courier"/>
              </a:rPr>
              <a:t>%&gt;%</a:t>
            </a:r>
            <a:r>
              <a:rPr>
                <a:latin typeface="Courier"/>
              </a:rPr>
              <a:t>  </a:t>
            </a:r>
            <a:r>
              <a:rPr i="1">
                <a:solidFill>
                  <a:srgbClr val="60A0B0"/>
                </a:solidFill>
                <a:latin typeface="Courier"/>
              </a:rPr>
              <a:t># Séparer les genres multiples en lignes différentes</a:t>
            </a:r>
            <a:br/>
            <a:r>
              <a:rPr>
                <a:latin typeface="Courier"/>
              </a:rPr>
              <a:t>  </a:t>
            </a:r>
            <a:r>
              <a:rPr>
                <a:solidFill>
                  <a:srgbClr val="06287E"/>
                </a:solidFill>
                <a:latin typeface="Courier"/>
              </a:rPr>
              <a:t>mutate</a:t>
            </a:r>
            <a:r>
              <a:rPr>
                <a:latin typeface="Courier"/>
              </a:rPr>
              <a:t>(</a:t>
            </a:r>
            <a:r>
              <a:rPr>
                <a:solidFill>
                  <a:srgbClr val="7D9029"/>
                </a:solidFill>
                <a:latin typeface="Courier"/>
              </a:rPr>
              <a:t>Genre =</a:t>
            </a:r>
            <a:r>
              <a:rPr>
                <a:latin typeface="Courier"/>
              </a:rPr>
              <a:t> </a:t>
            </a:r>
            <a:r>
              <a:rPr>
                <a:solidFill>
                  <a:srgbClr val="06287E"/>
                </a:solidFill>
                <a:latin typeface="Courier"/>
              </a:rPr>
              <a:t>str_trim</a:t>
            </a:r>
            <a:r>
              <a:rPr>
                <a:latin typeface="Courier"/>
              </a:rPr>
              <a:t>(Genre))      </a:t>
            </a:r>
            <a:r>
              <a:rPr i="1">
                <a:solidFill>
                  <a:srgbClr val="60A0B0"/>
                </a:solidFill>
                <a:latin typeface="Courier"/>
              </a:rPr>
              <a:t># Enlever les espaces inutiles autour des genres</a:t>
            </a:r>
            <a:br/>
            <a:br/>
            <a:r>
              <a:rPr i="1">
                <a:solidFill>
                  <a:srgbClr val="60A0B0"/>
                </a:solidFill>
                <a:latin typeface="Courier"/>
              </a:rPr>
              <a:t># Compter les occurrences de chaque genre</a:t>
            </a:r>
            <a:br/>
            <a:r>
              <a:rPr>
                <a:latin typeface="Courier"/>
              </a:rPr>
              <a:t>genre_counts </a:t>
            </a:r>
            <a:r>
              <a:rPr>
                <a:solidFill>
                  <a:srgbClr val="007020"/>
                </a:solidFill>
                <a:latin typeface="Courier"/>
              </a:rPr>
              <a:t>&lt;-</a:t>
            </a:r>
            <a:r>
              <a:rPr>
                <a:latin typeface="Courier"/>
              </a:rPr>
              <a:t> genre_data </a:t>
            </a:r>
            <a:r>
              <a:rPr>
                <a:solidFill>
                  <a:srgbClr val="4070A0"/>
                </a:solidFill>
                <a:latin typeface="Courier"/>
              </a:rPr>
              <a:t>%&gt;%</a:t>
            </a:r>
            <a:br/>
            <a:r>
              <a:rPr>
                <a:latin typeface="Courier"/>
              </a:rPr>
              <a:t>  </a:t>
            </a:r>
            <a:r>
              <a:rPr>
                <a:solidFill>
                  <a:srgbClr val="06287E"/>
                </a:solidFill>
                <a:latin typeface="Courier"/>
              </a:rPr>
              <a:t>group_by</a:t>
            </a:r>
            <a:r>
              <a:rPr>
                <a:latin typeface="Courier"/>
              </a:rPr>
              <a:t>(Genre) </a:t>
            </a:r>
            <a:r>
              <a:rPr>
                <a:solidFill>
                  <a:srgbClr val="4070A0"/>
                </a:solidFill>
                <a:latin typeface="Courier"/>
              </a:rPr>
              <a:t>%&gt;%</a:t>
            </a:r>
            <a:br/>
            <a:r>
              <a:rPr>
                <a:latin typeface="Courier"/>
              </a:rPr>
              <a:t>  </a:t>
            </a:r>
            <a:r>
              <a:rPr>
                <a:solidFill>
                  <a:srgbClr val="06287E"/>
                </a:solidFill>
                <a:latin typeface="Courier"/>
              </a:rPr>
              <a:t>summarise</a:t>
            </a:r>
            <a:r>
              <a:rPr>
                <a:latin typeface="Courier"/>
              </a:rPr>
              <a:t>(</a:t>
            </a:r>
            <a:r>
              <a:rPr>
                <a:solidFill>
                  <a:srgbClr val="7D9029"/>
                </a:solidFill>
                <a:latin typeface="Courier"/>
              </a:rPr>
              <a:t>Count =</a:t>
            </a:r>
            <a:r>
              <a:rPr>
                <a:latin typeface="Courier"/>
              </a:rPr>
              <a:t> </a:t>
            </a:r>
            <a:r>
              <a:rPr>
                <a:solidFill>
                  <a:srgbClr val="06287E"/>
                </a:solidFill>
                <a:latin typeface="Courier"/>
              </a:rPr>
              <a:t>n</a:t>
            </a:r>
            <a:r>
              <a:rPr>
                <a:latin typeface="Courier"/>
              </a:rPr>
              <a:t>()) </a:t>
            </a:r>
            <a:r>
              <a:rPr>
                <a:solidFill>
                  <a:srgbClr val="4070A0"/>
                </a:solidFill>
                <a:latin typeface="Courier"/>
              </a:rPr>
              <a:t>%&gt;%</a:t>
            </a:r>
            <a:br/>
            <a:r>
              <a:rPr>
                <a:latin typeface="Courier"/>
              </a:rPr>
              <a:t>  </a:t>
            </a:r>
            <a:r>
              <a:rPr>
                <a:solidFill>
                  <a:srgbClr val="06287E"/>
                </a:solidFill>
                <a:latin typeface="Courier"/>
              </a:rPr>
              <a:t>arrange</a:t>
            </a:r>
            <a:r>
              <a:rPr>
                <a:latin typeface="Courier"/>
              </a:rPr>
              <a:t>(</a:t>
            </a:r>
            <a:r>
              <a:rPr>
                <a:solidFill>
                  <a:srgbClr val="06287E"/>
                </a:solidFill>
                <a:latin typeface="Courier"/>
              </a:rPr>
              <a:t>desc</a:t>
            </a:r>
            <a:r>
              <a:rPr>
                <a:latin typeface="Courier"/>
              </a:rPr>
              <a:t>(Count))</a:t>
            </a:r>
            <a:br/>
            <a:br/>
            <a:r>
              <a:rPr i="1">
                <a:solidFill>
                  <a:srgbClr val="60A0B0"/>
                </a:solidFill>
                <a:latin typeface="Courier"/>
              </a:rPr>
              <a:t># Regrouper les genres moins fréquents dans "Autres"</a:t>
            </a:r>
            <a:br/>
            <a:r>
              <a:rPr i="1">
                <a:solidFill>
                  <a:srgbClr val="60A0B0"/>
                </a:solidFill>
                <a:latin typeface="Courier"/>
              </a:rPr>
              <a:t># Conserver les 10 genres les plus représentés</a:t>
            </a:r>
            <a:br/>
            <a:r>
              <a:rPr>
                <a:latin typeface="Courier"/>
              </a:rPr>
              <a:t>top_genres </a:t>
            </a:r>
            <a:r>
              <a:rPr>
                <a:solidFill>
                  <a:srgbClr val="007020"/>
                </a:solidFill>
                <a:latin typeface="Courier"/>
              </a:rPr>
              <a:t>&lt;-</a:t>
            </a:r>
            <a:r>
              <a:rPr>
                <a:latin typeface="Courier"/>
              </a:rPr>
              <a:t> genre_counts </a:t>
            </a:r>
            <a:r>
              <a:rPr>
                <a:solidFill>
                  <a:srgbClr val="4070A0"/>
                </a:solidFill>
                <a:latin typeface="Courier"/>
              </a:rPr>
              <a:t>%&gt;%</a:t>
            </a:r>
            <a:br/>
            <a:r>
              <a:rPr>
                <a:latin typeface="Courier"/>
              </a:rPr>
              <a:t>  </a:t>
            </a:r>
            <a:r>
              <a:rPr>
                <a:solidFill>
                  <a:srgbClr val="06287E"/>
                </a:solidFill>
                <a:latin typeface="Courier"/>
              </a:rPr>
              <a:t>slice_max</a:t>
            </a:r>
            <a:r>
              <a:rPr>
                <a:latin typeface="Courier"/>
              </a:rPr>
              <a:t>(Count, </a:t>
            </a:r>
            <a:r>
              <a:rPr>
                <a:solidFill>
                  <a:srgbClr val="7D9029"/>
                </a:solidFill>
                <a:latin typeface="Courier"/>
              </a:rPr>
              <a:t>n =</a:t>
            </a:r>
            <a:r>
              <a:rPr>
                <a:latin typeface="Courier"/>
              </a:rPr>
              <a:t> </a:t>
            </a:r>
            <a:r>
              <a:rPr>
                <a:solidFill>
                  <a:srgbClr val="40A070"/>
                </a:solidFill>
                <a:latin typeface="Courier"/>
              </a:rPr>
              <a:t>10</a:t>
            </a:r>
            <a:r>
              <a:rPr>
                <a:latin typeface="Courier"/>
              </a:rPr>
              <a:t>)  </a:t>
            </a:r>
            <a:r>
              <a:rPr i="1">
                <a:solidFill>
                  <a:srgbClr val="60A0B0"/>
                </a:solidFill>
                <a:latin typeface="Courier"/>
              </a:rPr>
              <a:t># Les 10 genres les plus fréquents</a:t>
            </a:r>
            <a:br/>
            <a:br/>
            <a:r>
              <a:rPr i="1">
                <a:solidFill>
                  <a:srgbClr val="60A0B0"/>
                </a:solidFill>
                <a:latin typeface="Courier"/>
              </a:rPr>
              <a:t># Ajouter les genres restants à la catégorie "Autres"</a:t>
            </a:r>
            <a:br/>
            <a:r>
              <a:rPr>
                <a:latin typeface="Courier"/>
              </a:rPr>
              <a:t>genre_counts </a:t>
            </a:r>
            <a:r>
              <a:rPr>
                <a:solidFill>
                  <a:srgbClr val="007020"/>
                </a:solidFill>
                <a:latin typeface="Courier"/>
              </a:rPr>
              <a:t>&lt;-</a:t>
            </a:r>
            <a:r>
              <a:rPr>
                <a:latin typeface="Courier"/>
              </a:rPr>
              <a:t> genre_counts </a:t>
            </a:r>
            <a:r>
              <a:rPr>
                <a:solidFill>
                  <a:srgbClr val="4070A0"/>
                </a:solidFill>
                <a:latin typeface="Courier"/>
              </a:rPr>
              <a:t>%&gt;%</a:t>
            </a:r>
            <a:br/>
            <a:r>
              <a:rPr>
                <a:latin typeface="Courier"/>
              </a:rPr>
              <a:t>  </a:t>
            </a:r>
            <a:r>
              <a:rPr>
                <a:solidFill>
                  <a:srgbClr val="06287E"/>
                </a:solidFill>
                <a:latin typeface="Courier"/>
              </a:rPr>
              <a:t>mutate</a:t>
            </a:r>
            <a:r>
              <a:rPr>
                <a:latin typeface="Courier"/>
              </a:rPr>
              <a:t>(</a:t>
            </a:r>
            <a:r>
              <a:rPr>
                <a:solidFill>
                  <a:srgbClr val="7D9029"/>
                </a:solidFill>
                <a:latin typeface="Courier"/>
              </a:rPr>
              <a:t>Genre =</a:t>
            </a:r>
            <a:r>
              <a:rPr>
                <a:latin typeface="Courier"/>
              </a:rPr>
              <a:t> </a:t>
            </a:r>
            <a:r>
              <a:rPr>
                <a:solidFill>
                  <a:srgbClr val="06287E"/>
                </a:solidFill>
                <a:latin typeface="Courier"/>
              </a:rPr>
              <a:t>ifelse</a:t>
            </a:r>
            <a:r>
              <a:rPr>
                <a:latin typeface="Courier"/>
              </a:rPr>
              <a:t>(Genre </a:t>
            </a:r>
            <a:r>
              <a:rPr>
                <a:solidFill>
                  <a:srgbClr val="4070A0"/>
                </a:solidFill>
                <a:latin typeface="Courier"/>
              </a:rPr>
              <a:t>%in%</a:t>
            </a:r>
            <a:r>
              <a:rPr>
                <a:latin typeface="Courier"/>
              </a:rPr>
              <a:t> top_genres</a:t>
            </a:r>
            <a:r>
              <a:rPr>
                <a:solidFill>
                  <a:srgbClr val="4070A0"/>
                </a:solidFill>
                <a:latin typeface="Courier"/>
              </a:rPr>
              <a:t>$</a:t>
            </a:r>
            <a:r>
              <a:rPr>
                <a:latin typeface="Courier"/>
              </a:rPr>
              <a:t>Genre, Genre, </a:t>
            </a:r>
            <a:r>
              <a:rPr>
                <a:solidFill>
                  <a:srgbClr val="4070A0"/>
                </a:solidFill>
                <a:latin typeface="Courier"/>
              </a:rPr>
              <a:t>"Autres"</a:t>
            </a:r>
            <a:r>
              <a:rPr>
                <a:latin typeface="Courier"/>
              </a:rPr>
              <a:t>)) </a:t>
            </a:r>
            <a:r>
              <a:rPr>
                <a:solidFill>
                  <a:srgbClr val="4070A0"/>
                </a:solidFill>
                <a:latin typeface="Courier"/>
              </a:rPr>
              <a:t>%&gt;%</a:t>
            </a:r>
            <a:br/>
            <a:r>
              <a:rPr>
                <a:latin typeface="Courier"/>
              </a:rPr>
              <a:t>  </a:t>
            </a:r>
            <a:r>
              <a:rPr>
                <a:solidFill>
                  <a:srgbClr val="06287E"/>
                </a:solidFill>
                <a:latin typeface="Courier"/>
              </a:rPr>
              <a:t>group_by</a:t>
            </a:r>
            <a:r>
              <a:rPr>
                <a:latin typeface="Courier"/>
              </a:rPr>
              <a:t>(Genre) </a:t>
            </a:r>
            <a:r>
              <a:rPr>
                <a:solidFill>
                  <a:srgbClr val="4070A0"/>
                </a:solidFill>
                <a:latin typeface="Courier"/>
              </a:rPr>
              <a:t>%&gt;%</a:t>
            </a:r>
            <a:br/>
            <a:r>
              <a:rPr>
                <a:latin typeface="Courier"/>
              </a:rPr>
              <a:t>  </a:t>
            </a:r>
            <a:r>
              <a:rPr>
                <a:solidFill>
                  <a:srgbClr val="06287E"/>
                </a:solidFill>
                <a:latin typeface="Courier"/>
              </a:rPr>
              <a:t>summarise</a:t>
            </a:r>
            <a:r>
              <a:rPr>
                <a:latin typeface="Courier"/>
              </a:rPr>
              <a:t>(</a:t>
            </a:r>
            <a:r>
              <a:rPr>
                <a:solidFill>
                  <a:srgbClr val="7D9029"/>
                </a:solidFill>
                <a:latin typeface="Courier"/>
              </a:rPr>
              <a:t>Count =</a:t>
            </a:r>
            <a:r>
              <a:rPr>
                <a:latin typeface="Courier"/>
              </a:rPr>
              <a:t> </a:t>
            </a:r>
            <a:r>
              <a:rPr>
                <a:solidFill>
                  <a:srgbClr val="06287E"/>
                </a:solidFill>
                <a:latin typeface="Courier"/>
              </a:rPr>
              <a:t>sum</a:t>
            </a:r>
            <a:r>
              <a:rPr>
                <a:latin typeface="Courier"/>
              </a:rPr>
              <a:t>(Count)) </a:t>
            </a:r>
            <a:r>
              <a:rPr>
                <a:solidFill>
                  <a:srgbClr val="4070A0"/>
                </a:solidFill>
                <a:latin typeface="Courier"/>
              </a:rPr>
              <a:t>%&gt;%</a:t>
            </a:r>
            <a:br/>
            <a:r>
              <a:rPr>
                <a:latin typeface="Courier"/>
              </a:rPr>
              <a:t>  </a:t>
            </a:r>
            <a:r>
              <a:rPr>
                <a:solidFill>
                  <a:srgbClr val="06287E"/>
                </a:solidFill>
                <a:latin typeface="Courier"/>
              </a:rPr>
              <a:t>arrange</a:t>
            </a:r>
            <a:r>
              <a:rPr>
                <a:latin typeface="Courier"/>
              </a:rPr>
              <a:t>(</a:t>
            </a:r>
            <a:r>
              <a:rPr>
                <a:solidFill>
                  <a:srgbClr val="06287E"/>
                </a:solidFill>
                <a:latin typeface="Courier"/>
              </a:rPr>
              <a:t>desc</a:t>
            </a:r>
            <a:r>
              <a:rPr>
                <a:latin typeface="Courier"/>
              </a:rPr>
              <a:t>(Count))</a:t>
            </a:r>
            <a:br/>
            <a:br/>
            <a:r>
              <a:rPr i="1">
                <a:solidFill>
                  <a:srgbClr val="60A0B0"/>
                </a:solidFill>
                <a:latin typeface="Courier"/>
              </a:rPr>
              <a:t># Calcul des pourcentages</a:t>
            </a:r>
            <a:br/>
            <a:r>
              <a:rPr>
                <a:latin typeface="Courier"/>
              </a:rPr>
              <a:t>genre_counts </a:t>
            </a:r>
            <a:r>
              <a:rPr>
                <a:solidFill>
                  <a:srgbClr val="007020"/>
                </a:solidFill>
                <a:latin typeface="Courier"/>
              </a:rPr>
              <a:t>&lt;-</a:t>
            </a:r>
            <a:r>
              <a:rPr>
                <a:latin typeface="Courier"/>
              </a:rPr>
              <a:t> genre_counts </a:t>
            </a:r>
            <a:r>
              <a:rPr>
                <a:solidFill>
                  <a:srgbClr val="4070A0"/>
                </a:solidFill>
                <a:latin typeface="Courier"/>
              </a:rPr>
              <a:t>%&gt;%</a:t>
            </a:r>
            <a:br/>
            <a:r>
              <a:rPr>
                <a:latin typeface="Courier"/>
              </a:rPr>
              <a:t>  </a:t>
            </a:r>
            <a:r>
              <a:rPr>
                <a:solidFill>
                  <a:srgbClr val="06287E"/>
                </a:solidFill>
                <a:latin typeface="Courier"/>
              </a:rPr>
              <a:t>mutate</a:t>
            </a:r>
            <a:r>
              <a:rPr>
                <a:latin typeface="Courier"/>
              </a:rPr>
              <a:t>(</a:t>
            </a:r>
            <a:r>
              <a:rPr>
                <a:solidFill>
                  <a:srgbClr val="7D9029"/>
                </a:solidFill>
                <a:latin typeface="Courier"/>
              </a:rPr>
              <a:t>Percentage =</a:t>
            </a:r>
            <a:r>
              <a:rPr>
                <a:latin typeface="Courier"/>
              </a:rPr>
              <a:t> (Count </a:t>
            </a:r>
            <a:r>
              <a:rPr>
                <a:solidFill>
                  <a:srgbClr val="4070A0"/>
                </a:solidFill>
                <a:latin typeface="Courier"/>
              </a:rPr>
              <a:t>/</a:t>
            </a:r>
            <a:r>
              <a:rPr>
                <a:latin typeface="Courier"/>
              </a:rPr>
              <a:t> </a:t>
            </a:r>
            <a:r>
              <a:rPr>
                <a:solidFill>
                  <a:srgbClr val="06287E"/>
                </a:solidFill>
                <a:latin typeface="Courier"/>
              </a:rPr>
              <a:t>sum</a:t>
            </a:r>
            <a:r>
              <a:rPr>
                <a:latin typeface="Courier"/>
              </a:rPr>
              <a:t>(Count)) </a:t>
            </a:r>
            <a:r>
              <a:rPr>
                <a:solidFill>
                  <a:srgbClr val="4070A0"/>
                </a:solidFill>
                <a:latin typeface="Courier"/>
              </a:rPr>
              <a:t>*</a:t>
            </a:r>
            <a:r>
              <a:rPr>
                <a:latin typeface="Courier"/>
              </a:rPr>
              <a:t> </a:t>
            </a:r>
            <a:r>
              <a:rPr>
                <a:solidFill>
                  <a:srgbClr val="40A070"/>
                </a:solidFill>
                <a:latin typeface="Courier"/>
              </a:rPr>
              <a:t>100</a:t>
            </a:r>
            <a:r>
              <a:rPr>
                <a:latin typeface="Courier"/>
              </a:rPr>
              <a:t>)</a:t>
            </a:r>
            <a:br/>
            <a:br/>
            <a:r>
              <a:rPr i="1">
                <a:solidFill>
                  <a:srgbClr val="60A0B0"/>
                </a:solidFill>
                <a:latin typeface="Courier"/>
              </a:rPr>
              <a:t># Étape 4 : Créer le diagramme circulaire (Camembert) avec les pourcentages</a:t>
            </a:r>
            <a:br/>
            <a:r>
              <a:rPr>
                <a:solidFill>
                  <a:srgbClr val="06287E"/>
                </a:solidFill>
                <a:latin typeface="Courier"/>
              </a:rPr>
              <a:t>ggplot</a:t>
            </a:r>
            <a:r>
              <a:rPr>
                <a:latin typeface="Courier"/>
              </a:rPr>
              <a:t>(genre_counts, </a:t>
            </a:r>
            <a:r>
              <a:rPr>
                <a:solidFill>
                  <a:srgbClr val="06287E"/>
                </a:solidFill>
                <a:latin typeface="Courier"/>
              </a:rPr>
              <a:t>aes</a:t>
            </a:r>
            <a:r>
              <a:rPr>
                <a:latin typeface="Courier"/>
              </a:rPr>
              <a:t>(</a:t>
            </a:r>
            <a:r>
              <a:rPr>
                <a:solidFill>
                  <a:srgbClr val="7D9029"/>
                </a:solidFill>
                <a:latin typeface="Courier"/>
              </a:rPr>
              <a:t>x =</a:t>
            </a:r>
            <a:r>
              <a:rPr>
                <a:latin typeface="Courier"/>
              </a:rPr>
              <a:t> </a:t>
            </a:r>
            <a:r>
              <a:rPr>
                <a:solidFill>
                  <a:srgbClr val="4070A0"/>
                </a:solidFill>
                <a:latin typeface="Courier"/>
              </a:rPr>
              <a:t>""</a:t>
            </a:r>
            <a:r>
              <a:rPr>
                <a:latin typeface="Courier"/>
              </a:rPr>
              <a:t>, </a:t>
            </a:r>
            <a:r>
              <a:rPr>
                <a:solidFill>
                  <a:srgbClr val="7D9029"/>
                </a:solidFill>
                <a:latin typeface="Courier"/>
              </a:rPr>
              <a:t>y =</a:t>
            </a:r>
            <a:r>
              <a:rPr>
                <a:latin typeface="Courier"/>
              </a:rPr>
              <a:t> Count, </a:t>
            </a:r>
            <a:r>
              <a:rPr>
                <a:solidFill>
                  <a:srgbClr val="7D9029"/>
                </a:solidFill>
                <a:latin typeface="Courier"/>
              </a:rPr>
              <a:t>fill =</a:t>
            </a:r>
            <a:r>
              <a:rPr>
                <a:latin typeface="Courier"/>
              </a:rPr>
              <a:t> Genre)) </a:t>
            </a:r>
            <a:r>
              <a:rPr>
                <a:solidFill>
                  <a:srgbClr val="4070A0"/>
                </a:solidFill>
                <a:latin typeface="Courier"/>
              </a:rPr>
              <a:t>+</a:t>
            </a:r>
            <a:br/>
            <a:r>
              <a:rPr>
                <a:latin typeface="Courier"/>
              </a:rPr>
              <a:t>  </a:t>
            </a:r>
            <a:r>
              <a:rPr>
                <a:solidFill>
                  <a:srgbClr val="06287E"/>
                </a:solidFill>
                <a:latin typeface="Courier"/>
              </a:rPr>
              <a:t>geom_bar</a:t>
            </a:r>
            <a:r>
              <a:rPr>
                <a:latin typeface="Courier"/>
              </a:rPr>
              <a:t>(</a:t>
            </a:r>
            <a:r>
              <a:rPr>
                <a:solidFill>
                  <a:srgbClr val="7D9029"/>
                </a:solidFill>
                <a:latin typeface="Courier"/>
              </a:rPr>
              <a:t>stat =</a:t>
            </a:r>
            <a:r>
              <a:rPr>
                <a:latin typeface="Courier"/>
              </a:rPr>
              <a:t> </a:t>
            </a:r>
            <a:r>
              <a:rPr>
                <a:solidFill>
                  <a:srgbClr val="4070A0"/>
                </a:solidFill>
                <a:latin typeface="Courier"/>
              </a:rPr>
              <a:t>"identity"</a:t>
            </a:r>
            <a:r>
              <a:rPr>
                <a:latin typeface="Courier"/>
              </a:rPr>
              <a:t>, </a:t>
            </a:r>
            <a:r>
              <a:rPr>
                <a:solidFill>
                  <a:srgbClr val="7D9029"/>
                </a:solidFill>
                <a:latin typeface="Courier"/>
              </a:rPr>
              <a:t>width =</a:t>
            </a:r>
            <a:r>
              <a:rPr>
                <a:latin typeface="Courier"/>
              </a:rPr>
              <a:t> </a:t>
            </a:r>
            <a:r>
              <a:rPr>
                <a:solidFill>
                  <a:srgbClr val="40A070"/>
                </a:solidFill>
                <a:latin typeface="Courier"/>
              </a:rPr>
              <a:t>1</a:t>
            </a:r>
            <a:r>
              <a:rPr>
                <a:latin typeface="Courier"/>
              </a:rPr>
              <a:t>) </a:t>
            </a:r>
            <a:r>
              <a:rPr>
                <a:solidFill>
                  <a:srgbClr val="4070A0"/>
                </a:solidFill>
                <a:latin typeface="Courier"/>
              </a:rPr>
              <a:t>+</a:t>
            </a:r>
            <a:r>
              <a:rPr>
                <a:latin typeface="Courier"/>
              </a:rPr>
              <a:t>  </a:t>
            </a:r>
            <a:r>
              <a:rPr i="1">
                <a:solidFill>
                  <a:srgbClr val="60A0B0"/>
                </a:solidFill>
                <a:latin typeface="Courier"/>
              </a:rPr>
              <a:t># Créer le bar chart</a:t>
            </a:r>
            <a:br/>
            <a:r>
              <a:rPr>
                <a:latin typeface="Courier"/>
              </a:rPr>
              <a:t>  </a:t>
            </a:r>
            <a:r>
              <a:rPr>
                <a:solidFill>
                  <a:srgbClr val="06287E"/>
                </a:solidFill>
                <a:latin typeface="Courier"/>
              </a:rPr>
              <a:t>coord_polar</a:t>
            </a:r>
            <a:r>
              <a:rPr>
                <a:latin typeface="Courier"/>
              </a:rPr>
              <a:t>(</a:t>
            </a:r>
            <a:r>
              <a:rPr>
                <a:solidFill>
                  <a:srgbClr val="7D9029"/>
                </a:solidFill>
                <a:latin typeface="Courier"/>
              </a:rPr>
              <a:t>theta =</a:t>
            </a:r>
            <a:r>
              <a:rPr>
                <a:latin typeface="Courier"/>
              </a:rPr>
              <a:t> </a:t>
            </a:r>
            <a:r>
              <a:rPr>
                <a:solidFill>
                  <a:srgbClr val="4070A0"/>
                </a:solidFill>
                <a:latin typeface="Courier"/>
              </a:rPr>
              <a:t>"y"</a:t>
            </a:r>
            <a:r>
              <a:rPr>
                <a:latin typeface="Courier"/>
              </a:rPr>
              <a:t>) </a:t>
            </a:r>
            <a:r>
              <a:rPr>
                <a:solidFill>
                  <a:srgbClr val="4070A0"/>
                </a:solidFill>
                <a:latin typeface="Courier"/>
              </a:rPr>
              <a:t>+</a:t>
            </a:r>
            <a:r>
              <a:rPr>
                <a:latin typeface="Courier"/>
              </a:rPr>
              <a:t>  </a:t>
            </a:r>
            <a:r>
              <a:rPr i="1">
                <a:solidFill>
                  <a:srgbClr val="60A0B0"/>
                </a:solidFill>
                <a:latin typeface="Courier"/>
              </a:rPr>
              <a:t># Transformer le bar chart en diagramme circulaire</a:t>
            </a:r>
            <a:br/>
            <a:r>
              <a:rPr>
                <a:latin typeface="Courier"/>
              </a:rPr>
              <a:t>  </a:t>
            </a:r>
            <a:r>
              <a:rPr>
                <a:solidFill>
                  <a:srgbClr val="06287E"/>
                </a:solidFill>
                <a:latin typeface="Courier"/>
              </a:rPr>
              <a:t>theme_void</a:t>
            </a:r>
            <a:r>
              <a:rPr>
                <a:latin typeface="Courier"/>
              </a:rPr>
              <a:t>() </a:t>
            </a:r>
            <a:r>
              <a:rPr>
                <a:solidFill>
                  <a:srgbClr val="4070A0"/>
                </a:solidFill>
                <a:latin typeface="Courier"/>
              </a:rPr>
              <a:t>+</a:t>
            </a:r>
            <a:r>
              <a:rPr>
                <a:latin typeface="Courier"/>
              </a:rPr>
              <a:t>  </a:t>
            </a:r>
            <a:r>
              <a:rPr i="1">
                <a:solidFill>
                  <a:srgbClr val="60A0B0"/>
                </a:solidFill>
                <a:latin typeface="Courier"/>
              </a:rPr>
              <a:t># Supprimer les axes et arrière-plan</a:t>
            </a:r>
            <a:br/>
            <a:r>
              <a:rPr>
                <a:latin typeface="Courier"/>
              </a:rPr>
              <a:t>  </a:t>
            </a:r>
            <a:r>
              <a:rPr>
                <a:solidFill>
                  <a:srgbClr val="06287E"/>
                </a:solidFill>
                <a:latin typeface="Courier"/>
              </a:rPr>
              <a:t>labs</a:t>
            </a:r>
            <a:r>
              <a:rPr>
                <a:latin typeface="Courier"/>
              </a:rPr>
              <a:t>(</a:t>
            </a:r>
            <a:r>
              <a:rPr>
                <a:solidFill>
                  <a:srgbClr val="7D9029"/>
                </a:solidFill>
                <a:latin typeface="Courier"/>
              </a:rPr>
              <a:t>title =</a:t>
            </a:r>
            <a:r>
              <a:rPr>
                <a:latin typeface="Courier"/>
              </a:rPr>
              <a:t> </a:t>
            </a:r>
            <a:r>
              <a:rPr>
                <a:solidFill>
                  <a:srgbClr val="4070A0"/>
                </a:solidFill>
                <a:latin typeface="Courier"/>
              </a:rPr>
              <a:t>"Répartition des genres dans les 150 meilleures séries (10 premiers genres)"</a:t>
            </a:r>
            <a:r>
              <a:rPr>
                <a:latin typeface="Courier"/>
              </a:rPr>
              <a:t>) </a:t>
            </a:r>
            <a:r>
              <a:rPr>
                <a:solidFill>
                  <a:srgbClr val="4070A0"/>
                </a:solidFill>
                <a:latin typeface="Courier"/>
              </a:rPr>
              <a:t>+</a:t>
            </a:r>
            <a:br/>
            <a:r>
              <a:rPr>
                <a:latin typeface="Courier"/>
              </a:rPr>
              <a:t>  </a:t>
            </a:r>
            <a:r>
              <a:rPr>
                <a:solidFill>
                  <a:srgbClr val="06287E"/>
                </a:solidFill>
                <a:latin typeface="Courier"/>
              </a:rPr>
              <a:t>geom_text</a:t>
            </a:r>
            <a:r>
              <a:rPr>
                <a:latin typeface="Courier"/>
              </a:rPr>
              <a:t>(</a:t>
            </a:r>
            <a:r>
              <a:rPr>
                <a:solidFill>
                  <a:srgbClr val="06287E"/>
                </a:solidFill>
                <a:latin typeface="Courier"/>
              </a:rPr>
              <a:t>aes</a:t>
            </a:r>
            <a:r>
              <a:rPr>
                <a:latin typeface="Courier"/>
              </a:rPr>
              <a:t>(</a:t>
            </a:r>
            <a:r>
              <a:rPr>
                <a:solidFill>
                  <a:srgbClr val="7D9029"/>
                </a:solidFill>
                <a:latin typeface="Courier"/>
              </a:rPr>
              <a:t>label =</a:t>
            </a:r>
            <a:r>
              <a:rPr>
                <a:latin typeface="Courier"/>
              </a:rPr>
              <a:t> </a:t>
            </a:r>
            <a:r>
              <a:rPr>
                <a:solidFill>
                  <a:srgbClr val="06287E"/>
                </a:solidFill>
                <a:latin typeface="Courier"/>
              </a:rPr>
              <a:t>paste0</a:t>
            </a:r>
            <a:r>
              <a:rPr>
                <a:latin typeface="Courier"/>
              </a:rPr>
              <a:t>(</a:t>
            </a:r>
            <a:r>
              <a:rPr>
                <a:solidFill>
                  <a:srgbClr val="06287E"/>
                </a:solidFill>
                <a:latin typeface="Courier"/>
              </a:rPr>
              <a:t>round</a:t>
            </a:r>
            <a:r>
              <a:rPr>
                <a:latin typeface="Courier"/>
              </a:rPr>
              <a:t>(Percentage, </a:t>
            </a:r>
            <a:r>
              <a:rPr>
                <a:solidFill>
                  <a:srgbClr val="40A070"/>
                </a:solidFill>
                <a:latin typeface="Courier"/>
              </a:rPr>
              <a:t>1</a:t>
            </a:r>
            <a:r>
              <a:rPr>
                <a:latin typeface="Courier"/>
              </a:rPr>
              <a:t>), </a:t>
            </a:r>
            <a:r>
              <a:rPr>
                <a:solidFill>
                  <a:srgbClr val="4070A0"/>
                </a:solidFill>
                <a:latin typeface="Courier"/>
              </a:rPr>
              <a:t>"%"</a:t>
            </a:r>
            <a:r>
              <a:rPr>
                <a:latin typeface="Courier"/>
              </a:rPr>
              <a:t>)), </a:t>
            </a:r>
            <a:br/>
            <a:r>
              <a:rPr>
                <a:latin typeface="Courier"/>
              </a:rPr>
              <a:t>            </a:t>
            </a:r>
            <a:r>
              <a:rPr>
                <a:solidFill>
                  <a:srgbClr val="7D9029"/>
                </a:solidFill>
                <a:latin typeface="Courier"/>
              </a:rPr>
              <a:t>position =</a:t>
            </a:r>
            <a:r>
              <a:rPr>
                <a:latin typeface="Courier"/>
              </a:rPr>
              <a:t> </a:t>
            </a:r>
            <a:r>
              <a:rPr>
                <a:solidFill>
                  <a:srgbClr val="06287E"/>
                </a:solidFill>
                <a:latin typeface="Courier"/>
              </a:rPr>
              <a:t>position_stack</a:t>
            </a:r>
            <a:r>
              <a:rPr>
                <a:latin typeface="Courier"/>
              </a:rPr>
              <a:t>(</a:t>
            </a:r>
            <a:r>
              <a:rPr>
                <a:solidFill>
                  <a:srgbClr val="7D9029"/>
                </a:solidFill>
                <a:latin typeface="Courier"/>
              </a:rPr>
              <a:t>vjust =</a:t>
            </a:r>
            <a:r>
              <a:rPr>
                <a:latin typeface="Courier"/>
              </a:rPr>
              <a:t> </a:t>
            </a:r>
            <a:r>
              <a:rPr>
                <a:solidFill>
                  <a:srgbClr val="40A070"/>
                </a:solidFill>
                <a:latin typeface="Courier"/>
              </a:rPr>
              <a:t>0.5</a:t>
            </a:r>
            <a:r>
              <a:rPr>
                <a:latin typeface="Courier"/>
              </a:rPr>
              <a:t>),  </a:t>
            </a:r>
            <a:r>
              <a:rPr i="1">
                <a:solidFill>
                  <a:srgbClr val="60A0B0"/>
                </a:solidFill>
                <a:latin typeface="Courier"/>
              </a:rPr>
              <a:t># Placer le texte au centre des sections</a:t>
            </a:r>
            <a:br/>
            <a:r>
              <a:rPr>
                <a:latin typeface="Courier"/>
              </a:rPr>
              <a:t>            </a:t>
            </a:r>
            <a:r>
              <a:rPr>
                <a:solidFill>
                  <a:srgbClr val="7D9029"/>
                </a:solidFill>
                <a:latin typeface="Courier"/>
              </a:rPr>
              <a:t>color =</a:t>
            </a:r>
            <a:r>
              <a:rPr>
                <a:latin typeface="Courier"/>
              </a:rPr>
              <a:t> </a:t>
            </a:r>
            <a:r>
              <a:rPr>
                <a:solidFill>
                  <a:srgbClr val="4070A0"/>
                </a:solidFill>
                <a:latin typeface="Courier"/>
              </a:rPr>
              <a:t>"white"</a:t>
            </a:r>
            <a:r>
              <a:rPr>
                <a:latin typeface="Courier"/>
              </a:rPr>
              <a:t>, </a:t>
            </a:r>
            <a:r>
              <a:rPr>
                <a:solidFill>
                  <a:srgbClr val="7D9029"/>
                </a:solidFill>
                <a:latin typeface="Courier"/>
              </a:rPr>
              <a:t>size =</a:t>
            </a:r>
            <a:r>
              <a:rPr>
                <a:latin typeface="Courier"/>
              </a:rPr>
              <a:t> </a:t>
            </a:r>
            <a:r>
              <a:rPr>
                <a:solidFill>
                  <a:srgbClr val="40A070"/>
                </a:solidFill>
                <a:latin typeface="Courier"/>
              </a:rPr>
              <a:t>4</a:t>
            </a:r>
            <a:r>
              <a:rPr>
                <a:latin typeface="Courier"/>
              </a:rPr>
              <a:t>) </a:t>
            </a:r>
            <a:r>
              <a:rPr>
                <a:solidFill>
                  <a:srgbClr val="4070A0"/>
                </a:solidFill>
                <a:latin typeface="Courier"/>
              </a:rPr>
              <a:t>+</a:t>
            </a:r>
            <a:r>
              <a:rPr>
                <a:latin typeface="Courier"/>
              </a:rPr>
              <a:t>  </a:t>
            </a:r>
            <a:r>
              <a:rPr i="1">
                <a:solidFill>
                  <a:srgbClr val="60A0B0"/>
                </a:solidFill>
                <a:latin typeface="Courier"/>
              </a:rPr>
              <a:t># Couleur du texte et taille</a:t>
            </a:r>
            <a:br/>
            <a:r>
              <a:rPr>
                <a:latin typeface="Courier"/>
              </a:rPr>
              <a:t>  </a:t>
            </a:r>
            <a:r>
              <a:rPr>
                <a:solidFill>
                  <a:srgbClr val="06287E"/>
                </a:solidFill>
                <a:latin typeface="Courier"/>
              </a:rPr>
              <a:t>theme</a:t>
            </a:r>
            <a:r>
              <a:rPr>
                <a:latin typeface="Courier"/>
              </a:rPr>
              <a:t>(</a:t>
            </a:r>
            <a:r>
              <a:rPr>
                <a:solidFill>
                  <a:srgbClr val="7D9029"/>
                </a:solidFill>
                <a:latin typeface="Courier"/>
              </a:rPr>
              <a:t>legend.title =</a:t>
            </a:r>
            <a:r>
              <a:rPr>
                <a:latin typeface="Courier"/>
              </a:rPr>
              <a:t> </a:t>
            </a:r>
            <a:r>
              <a:rPr>
                <a:solidFill>
                  <a:srgbClr val="06287E"/>
                </a:solidFill>
                <a:latin typeface="Courier"/>
              </a:rPr>
              <a:t>element_blank</a:t>
            </a:r>
            <a:r>
              <a:rPr>
                <a:latin typeface="Courier"/>
              </a:rPr>
              <a:t>())  </a:t>
            </a:r>
            <a:r>
              <a:rPr i="1">
                <a:solidFill>
                  <a:srgbClr val="60A0B0"/>
                </a:solidFill>
                <a:latin typeface="Courier"/>
              </a:rPr>
              <a:t># Enlever le titre de la légende</a:t>
            </a:r>
          </a:p>
        </p:txBody>
      </p:sp>
      <p:pic>
        <p:nvPicPr>
          <p:cNvPr id="3" name="Picture 1" descr="1111111111_files/figure-pptx/unnamed-chunk-6-1.png"/>
          <p:cNvPicPr>
            <a:picLocks noGrp="1" noChangeAspect="1"/>
          </p:cNvPicPr>
          <p:nvPr/>
        </p:nvPicPr>
        <p:blipFill>
          <a:blip r:embed="rId2"/>
          <a:stretch>
            <a:fillRect/>
          </a:stretch>
        </p:blipFill>
        <p:spPr bwMode="auto">
          <a:xfrm>
            <a:off x="3568700" y="355600"/>
            <a:ext cx="5105400" cy="4089400"/>
          </a:xfrm>
          <a:prstGeom prst="rect">
            <a:avLst/>
          </a:prstGeom>
          <a:noFill/>
          <a:ln w="9525">
            <a:noFill/>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p:txBody>
          <a:bodyPr/>
          <a:lstStyle/>
          <a:p>
            <a:pPr marL="0" lvl="0" indent="0">
              <a:buNone/>
            </a:pPr>
            <a:endParaRPr/>
          </a:p>
          <a:p>
            <a:pPr marL="0" lvl="0" indent="0">
              <a:buNone/>
            </a:pPr>
            <a:r>
              <a:t>Ce diagramme circulaire montre que le genre Drame domine largement les 150 meilleures séries avec 26,2 %, suivi des séries Historiques (15,7 %). Les genres Fantastique (8,7 %) et Animation (7,8 %) occupent des places importantes, reflétant une diversité des goûts. Les genres comme le Policier, la Science-Fiction et le Thriller ont des parts plus modestes, entre 4 % et 8 %. Cela indique une préférence marquée pour des genres immersifs et émotionnels, tout en laissant une place à des goûts variés. Globalement, les spectateurs apprécient une large palette de séries, avec un fort attrait pour les récits profonds et historiques.</a:t>
            </a:r>
          </a:p>
          <a:p>
            <a:pPr marL="0" lvl="0" indent="0">
              <a:spcBef>
                <a:spcPts val="3000"/>
              </a:spcBef>
              <a:buNone/>
            </a:pPr>
            <a:r>
              <a:rPr b="1"/>
              <a:t>II. Analyse des commentaires de la meilleure série sur Allociné</a:t>
            </a:r>
          </a:p>
          <a:p>
            <a:pPr lvl="0" indent="0">
              <a:buNone/>
            </a:pPr>
            <a:r>
              <a:rPr i="1">
                <a:solidFill>
                  <a:srgbClr val="60A0B0"/>
                </a:solidFill>
                <a:latin typeface="Courier"/>
              </a:rPr>
              <a:t># URL de la série</a:t>
            </a:r>
            <a:br/>
            <a:r>
              <a:rPr>
                <a:latin typeface="Courier"/>
              </a:rPr>
              <a:t>url </a:t>
            </a:r>
            <a:r>
              <a:rPr>
                <a:solidFill>
                  <a:srgbClr val="007020"/>
                </a:solidFill>
                <a:latin typeface="Courier"/>
              </a:rPr>
              <a:t>&lt;-</a:t>
            </a:r>
            <a:r>
              <a:rPr>
                <a:latin typeface="Courier"/>
              </a:rPr>
              <a:t> </a:t>
            </a:r>
            <a:r>
              <a:rPr>
                <a:solidFill>
                  <a:srgbClr val="4070A0"/>
                </a:solidFill>
                <a:latin typeface="Courier"/>
              </a:rPr>
              <a:t>"https://www.allocine.fr/series/ficheserie_gen_cserie=3517.html"</a:t>
            </a:r>
            <a:br/>
            <a:br/>
            <a:r>
              <a:rPr i="1">
                <a:solidFill>
                  <a:srgbClr val="60A0B0"/>
                </a:solidFill>
                <a:latin typeface="Courier"/>
              </a:rPr>
              <a:t># Lire la page HTML</a:t>
            </a:r>
            <a:br/>
            <a:r>
              <a:rPr>
                <a:latin typeface="Courier"/>
              </a:rPr>
              <a:t>page </a:t>
            </a:r>
            <a:r>
              <a:rPr>
                <a:solidFill>
                  <a:srgbClr val="007020"/>
                </a:solidFill>
                <a:latin typeface="Courier"/>
              </a:rPr>
              <a:t>&lt;-</a:t>
            </a:r>
            <a:r>
              <a:rPr>
                <a:latin typeface="Courier"/>
              </a:rPr>
              <a:t> </a:t>
            </a:r>
            <a:r>
              <a:rPr>
                <a:solidFill>
                  <a:srgbClr val="06287E"/>
                </a:solidFill>
                <a:latin typeface="Courier"/>
              </a:rPr>
              <a:t>read_html</a:t>
            </a:r>
            <a:r>
              <a:rPr>
                <a:latin typeface="Courier"/>
              </a:rPr>
              <a:t>(url)</a:t>
            </a:r>
            <a:br/>
            <a:br/>
            <a:r>
              <a:rPr i="1">
                <a:solidFill>
                  <a:srgbClr val="60A0B0"/>
                </a:solidFill>
                <a:latin typeface="Courier"/>
              </a:rPr>
              <a:t># Extraire les commentaires</a:t>
            </a:r>
            <a:br/>
            <a:r>
              <a:rPr>
                <a:latin typeface="Courier"/>
              </a:rPr>
              <a:t>comments </a:t>
            </a:r>
            <a:r>
              <a:rPr>
                <a:solidFill>
                  <a:srgbClr val="007020"/>
                </a:solidFill>
                <a:latin typeface="Courier"/>
              </a:rPr>
              <a:t>&lt;-</a:t>
            </a:r>
            <a:r>
              <a:rPr>
                <a:latin typeface="Courier"/>
              </a:rPr>
              <a:t> page </a:t>
            </a:r>
            <a:r>
              <a:rPr>
                <a:solidFill>
                  <a:srgbClr val="4070A0"/>
                </a:solidFill>
                <a:latin typeface="Courier"/>
              </a:rPr>
              <a:t>%&gt;%</a:t>
            </a:r>
            <a:br/>
            <a:r>
              <a:rPr>
                <a:latin typeface="Courier"/>
              </a:rPr>
              <a:t>  </a:t>
            </a:r>
            <a:r>
              <a:rPr>
                <a:solidFill>
                  <a:srgbClr val="06287E"/>
                </a:solidFill>
                <a:latin typeface="Courier"/>
              </a:rPr>
              <a:t>html_nodes</a:t>
            </a:r>
            <a:r>
              <a:rPr>
                <a:latin typeface="Courier"/>
              </a:rPr>
              <a:t>(</a:t>
            </a:r>
            <a:r>
              <a:rPr>
                <a:solidFill>
                  <a:srgbClr val="4070A0"/>
                </a:solidFill>
                <a:latin typeface="Courier"/>
              </a:rPr>
              <a:t>".content-txt"</a:t>
            </a:r>
            <a:r>
              <a:rPr>
                <a:latin typeface="Courier"/>
              </a:rPr>
              <a:t>) </a:t>
            </a:r>
            <a:r>
              <a:rPr>
                <a:solidFill>
                  <a:srgbClr val="4070A0"/>
                </a:solidFill>
                <a:latin typeface="Courier"/>
              </a:rPr>
              <a:t>%&gt;%</a:t>
            </a:r>
            <a:r>
              <a:rPr>
                <a:latin typeface="Courier"/>
              </a:rPr>
              <a:t>  </a:t>
            </a:r>
            <a:r>
              <a:rPr i="1">
                <a:solidFill>
                  <a:srgbClr val="60A0B0"/>
                </a:solidFill>
                <a:latin typeface="Courier"/>
              </a:rPr>
              <a:t># Sélecteur CSS pour les commentaires</a:t>
            </a:r>
            <a:br/>
            <a:r>
              <a:rPr>
                <a:latin typeface="Courier"/>
              </a:rPr>
              <a:t>  </a:t>
            </a:r>
            <a:r>
              <a:rPr>
                <a:solidFill>
                  <a:srgbClr val="06287E"/>
                </a:solidFill>
                <a:latin typeface="Courier"/>
              </a:rPr>
              <a:t>html_text</a:t>
            </a:r>
            <a:r>
              <a:rPr>
                <a:latin typeface="Courier"/>
              </a:rPr>
              <a:t>()</a:t>
            </a:r>
            <a:br/>
            <a:br/>
            <a:r>
              <a:rPr i="1">
                <a:solidFill>
                  <a:srgbClr val="60A0B0"/>
                </a:solidFill>
                <a:latin typeface="Courier"/>
              </a:rPr>
              <a:t># Vérifier les commentaires extraits</a:t>
            </a:r>
            <a:br/>
            <a:r>
              <a:rPr>
                <a:solidFill>
                  <a:srgbClr val="06287E"/>
                </a:solidFill>
                <a:latin typeface="Courier"/>
              </a:rPr>
              <a:t>head</a:t>
            </a:r>
            <a:r>
              <a:rPr>
                <a:latin typeface="Courier"/>
              </a:rPr>
              <a:t>(comments, </a:t>
            </a:r>
            <a:r>
              <a:rPr>
                <a:solidFill>
                  <a:srgbClr val="40A070"/>
                </a:solidFill>
                <a:latin typeface="Courier"/>
              </a:rPr>
              <a:t>10</a:t>
            </a:r>
            <a:r>
              <a:rPr>
                <a:latin typeface="Courier"/>
              </a:rPr>
              <a:t>)</a:t>
            </a:r>
          </a:p>
          <a:p>
            <a:pPr lvl="0" indent="0">
              <a:buNone/>
            </a:pPr>
            <a:r>
              <a:rPr>
                <a:latin typeface="Courier"/>
              </a:rPr>
              <a:t>## [1] "\n                    Walter White, 50 ans, est professeur de chimie dans un lycée du Nouveau-Mexique. Pour subvenir aux besoins de Skyler, sa femme enceinte, et de Walt Junior, son fils handicapé, il est obligé de travailler doublement. Son quotidien déjà morose devient carrément noir lorsqu'il apprend qu'il est atteint d'un incurable cancer des poumons. Les médecins ne lui donnent pas plus de deux ans à vivre. Pour réunir rapidement beaucoup d'argent afin de mettre sa famille à l'abri, Walter ne voit plus qu'une solution : mettre ses connaissances en chimie à profit pour fabriquer et vendre du crystal meth, une drogue de synthèse qui rapporte beaucoup. Il propose à Jesse, un de ses anciens élèves devenu un petit dealer de seconde zone, de faire équipe avec lui. Le duo improvisé met en place un labo itinérant dans un vieux camping-car. Cette association inattendue va les entraîner dans une série de péripéties tant comiques que pathétiques.\n        \n            "
## [2] "\n                    Sombre, violente, passionnante, GRANDIOSE !!! Breaking Bad est tout simplement LE chef d'œuvre, tant au niveau de sa mise en scène que de son scénario. Les personnages sont passionnants, d'une très grande profondeur ,et interprétés par des acteurs fantastiques, qui livrent un travail époustouflant. La construction scénaristique est tout bonnement HALLUCINANTE. Chaque saison propose ses propres enjeux, tout en étant en parfaite ... \n        \n                Lire plus\n            "                                                                                                                                                                                                                                                                                                                                                                                                                                                                                      
## [3] "\n                    C'est le 21 Août 2015, je m'en souviens parfaitement, que je me suis assis dans mon canapé. Le 21 Août, que j'ai commencé l'aventure \"Breaking Bad\". Un long périple s'est créer jusqu'à hier soir, Mercredi 9 Décembre, à 22 heures. Que puis-je dire après tout ce qui a déjà été dit ? Car oui, je considère moi aussi cette série en tant que chef d'œuvre. \n\nVince Gilligan nous offre une fresque d'un dramatisme intense et terriblement ... \n        \n                Lire plus\n            "                                                                                                                                                                                                                                                                                                                                                                                                                                                                                 
## [4] "\n                    Vous voulez en entendre une bonne ? Breaking Bad, à l'origine c'est une blague rien de plus. Une simple blague de Thomas Schnauz à son ami Vince Gilligan. Tous deux en panne sèche après l'arrêt de la série X-Files en 2002 (qui leur a mis le pied à l'étrier), les scénaristes au chômage ironisent de la situation au point que Schnauz émet l'hypothèse de lancer un labo de méthamphétamines dans un camping-car. La suite, vous la ... \n        \n                Lire plus\n            "                                                                                                                                                                                                                                                                                                                                                                                                                                                                                          
## [5] "\n                    Le parcours de ce professeur de chimie entrainé dans un engrenage criminel est une pure délectation scénaristique. Dès ses premiers épisodes, la descente aux enfers de ce Walter White est brillamment décrite tandis que son évolution psychologique est parfaitement par ce Bryan Cranston qui, jusque-là inconnu, se révèle être un acteur absolument épatant. Mais au-delà de lui, chaque personnage est tout aussi bien traité et brillamment ... \n        \n                Lire plus\n            "                                                                                                                                                                                                                                                                                                                                                                                                                                                                                 
## [6] "\n                    Avant de commencer à exprimé mon analyse sur cette série, je tiens à honorer Vince Gilligan qui est à mes yeux un génie, ce Grand monsieur maitrise son sujet avec une telle intelligence que le spectateur est frappé par des cliffhangers déconcertants de saison en saison.\nLa série en elle même est un \"Crystal\" dont la pureté s'enrichie grâce aux talents des acteurs principaux (Bryan Cranston, Aaron Paul mais aussi la famille Schrader ) ... \n        \n                Lire plus\n            "</a:t>
            </a:r>
          </a:p>
          <a:p>
            <a:pPr lvl="0" indent="0">
              <a:buNone/>
            </a:pPr>
            <a:r>
              <a:rPr i="1">
                <a:solidFill>
                  <a:srgbClr val="60A0B0"/>
                </a:solidFill>
                <a:latin typeface="Courier"/>
              </a:rPr>
              <a:t># Nettoyer les commentaires</a:t>
            </a:r>
            <a:br/>
            <a:r>
              <a:rPr>
                <a:latin typeface="Courier"/>
              </a:rPr>
              <a:t>comments_clean </a:t>
            </a:r>
            <a:r>
              <a:rPr>
                <a:solidFill>
                  <a:srgbClr val="007020"/>
                </a:solidFill>
                <a:latin typeface="Courier"/>
              </a:rPr>
              <a:t>&lt;-</a:t>
            </a:r>
            <a:r>
              <a:rPr>
                <a:latin typeface="Courier"/>
              </a:rPr>
              <a:t> comments </a:t>
            </a:r>
            <a:r>
              <a:rPr>
                <a:solidFill>
                  <a:srgbClr val="4070A0"/>
                </a:solidFill>
                <a:latin typeface="Courier"/>
              </a:rPr>
              <a:t>%&gt;%</a:t>
            </a:r>
            <a:br/>
            <a:r>
              <a:rPr>
                <a:latin typeface="Courier"/>
              </a:rPr>
              <a:t>  </a:t>
            </a:r>
            <a:r>
              <a:rPr>
                <a:solidFill>
                  <a:srgbClr val="06287E"/>
                </a:solidFill>
                <a:latin typeface="Courier"/>
              </a:rPr>
              <a:t>gsub</a:t>
            </a:r>
            <a:r>
              <a:rPr>
                <a:latin typeface="Courier"/>
              </a:rPr>
              <a:t>(</a:t>
            </a:r>
            <a:r>
              <a:rPr>
                <a:solidFill>
                  <a:srgbClr val="4070A0"/>
                </a:solidFill>
                <a:latin typeface="Courier"/>
              </a:rPr>
              <a:t>"[\n\r]"</a:t>
            </a:r>
            <a:r>
              <a:rPr>
                <a:latin typeface="Courier"/>
              </a:rPr>
              <a:t>, </a:t>
            </a:r>
            <a:r>
              <a:rPr>
                <a:solidFill>
                  <a:srgbClr val="4070A0"/>
                </a:solidFill>
                <a:latin typeface="Courier"/>
              </a:rPr>
              <a:t>" "</a:t>
            </a:r>
            <a:r>
              <a:rPr>
                <a:latin typeface="Courier"/>
              </a:rPr>
              <a:t>, .) </a:t>
            </a:r>
            <a:r>
              <a:rPr>
                <a:solidFill>
                  <a:srgbClr val="4070A0"/>
                </a:solidFill>
                <a:latin typeface="Courier"/>
              </a:rPr>
              <a:t>%&gt;%</a:t>
            </a:r>
            <a:r>
              <a:rPr>
                <a:latin typeface="Courier"/>
              </a:rPr>
              <a:t>  </a:t>
            </a:r>
            <a:r>
              <a:rPr i="1">
                <a:solidFill>
                  <a:srgbClr val="60A0B0"/>
                </a:solidFill>
                <a:latin typeface="Courier"/>
              </a:rPr>
              <a:t># Remplacer les sauts de ligne par des espaces</a:t>
            </a:r>
            <a:br/>
            <a:r>
              <a:rPr>
                <a:latin typeface="Courier"/>
              </a:rPr>
              <a:t>  </a:t>
            </a:r>
            <a:r>
              <a:rPr>
                <a:solidFill>
                  <a:srgbClr val="06287E"/>
                </a:solidFill>
                <a:latin typeface="Courier"/>
              </a:rPr>
              <a:t>trimws</a:t>
            </a:r>
            <a:r>
              <a:rPr>
                <a:latin typeface="Courier"/>
              </a:rPr>
              <a:t>()  </a:t>
            </a:r>
            <a:r>
              <a:rPr i="1">
                <a:solidFill>
                  <a:srgbClr val="60A0B0"/>
                </a:solidFill>
                <a:latin typeface="Courier"/>
              </a:rPr>
              <a:t># Supprimer les espaces inutiles</a:t>
            </a:r>
            <a:br/>
            <a:br/>
            <a:r>
              <a:rPr i="1">
                <a:solidFill>
                  <a:srgbClr val="60A0B0"/>
                </a:solidFill>
                <a:latin typeface="Courier"/>
              </a:rPr>
              <a:t># Afficher les commentaires nettoyés</a:t>
            </a:r>
            <a:br/>
            <a:r>
              <a:rPr>
                <a:solidFill>
                  <a:srgbClr val="06287E"/>
                </a:solidFill>
                <a:latin typeface="Courier"/>
              </a:rPr>
              <a:t>head</a:t>
            </a:r>
            <a:r>
              <a:rPr>
                <a:latin typeface="Courier"/>
              </a:rPr>
              <a:t>(comments_clean, </a:t>
            </a:r>
            <a:r>
              <a:rPr>
                <a:solidFill>
                  <a:srgbClr val="40A070"/>
                </a:solidFill>
                <a:latin typeface="Courier"/>
              </a:rPr>
              <a:t>10</a:t>
            </a:r>
            <a:r>
              <a:rPr>
                <a:latin typeface="Courier"/>
              </a:rPr>
              <a:t>)</a:t>
            </a:r>
          </a:p>
          <a:p>
            <a:pPr lvl="0" indent="0">
              <a:buNone/>
            </a:pPr>
            <a:r>
              <a:rPr>
                <a:latin typeface="Courier"/>
              </a:rPr>
              <a:t>## [1] "Walter White, 50 ans, est professeur de chimie dans un lycée du Nouveau-Mexique. Pour subvenir aux besoins de Skyler, sa femme enceinte, et de Walt Junior, son fils handicapé, il est obligé de travailler doublement. Son quotidien déjà morose devient carrément noir lorsqu'il apprend qu'il est atteint d'un incurable cancer des poumons. Les médecins ne lui donnent pas plus de deux ans à vivre. Pour réunir rapidement beaucoup d'argent afin de mettre sa famille à l'abri, Walter ne voit plus qu'une solution : mettre ses connaissances en chimie à profit pour fabriquer et vendre du crystal meth, une drogue de synthèse qui rapporte beaucoup. Il propose à Jesse, un de ses anciens élèves devenu un petit dealer de seconde zone, de faire équipe avec lui. Le duo improvisé met en place un labo itinérant dans un vieux camping-car. Cette association inattendue va les entraîner dans une série de péripéties tant comiques que pathétiques."
## [2] "Sombre, violente, passionnante, GRANDIOSE !!! Breaking Bad est tout simplement LE chef d'œuvre, tant au niveau de sa mise en scène que de son scénario. Les personnages sont passionnants, d'une très grande profondeur ,et interprétés par des acteurs fantastiques, qui livrent un travail époustouflant. La construction scénaristique est tout bonnement HALLUCINANTE. Chaque saison propose ses propres enjeux, tout en étant en parfaite ...                           Lire plus"                                                                                                                                                                                                                                                                                                                                                                                                                                                                              
## [3] "C'est le 21 Août 2015, je m'en souviens parfaitement, que je me suis assis dans mon canapé. Le 21 Août, que j'ai commencé l'aventure \"Breaking Bad\". Un long périple s'est créer jusqu'à hier soir, Mercredi 9 Décembre, à 22 heures. Que puis-je dire après tout ce qui a déjà été dit ? Car oui, je considère moi aussi cette série en tant que chef d'œuvre.   Vince Gilligan nous offre une fresque d'un dramatisme intense et terriblement ...                           Lire plus"                                                                                                                                                                                                                                                                                                                                                                                                                                                                           
## [4] "Vous voulez en entendre une bonne ? Breaking Bad, à l'origine c'est une blague rien de plus. Une simple blague de Thomas Schnauz à son ami Vince Gilligan. Tous deux en panne sèche après l'arrêt de la série X-Files en 2002 (qui leur a mis le pied à l'étrier), les scénaristes au chômage ironisent de la situation au point que Schnauz émet l'hypothèse de lancer un labo de méthamphétamines dans un camping-car. La suite, vous la ...                           Lire plus"                                                                                                                                                                                                                                                                                                                                                                                                                                                                                  
## [5] "Le parcours de ce professeur de chimie entrainé dans un engrenage criminel est une pure délectation scénaristique. Dès ses premiers épisodes, la descente aux enfers de ce Walter White est brillamment décrite tandis que son évolution psychologique est parfaitement par ce Bryan Cranston qui, jusque-là inconnu, se révèle être un acteur absolument épatant. Mais au-delà de lui, chaque personnage est tout aussi bien traité et brillamment ...                           Lire plus"                                                                                                                                                                                                                                                                                                                                                                                                                                                                         
## [6] "Avant de commencer à exprimé mon analyse sur cette série, je tiens à honorer Vince Gilligan qui est à mes yeux un génie, ce Grand monsieur maitrise son sujet avec une telle intelligence que le spectateur est frappé par des cliffhangers déconcertants de saison en saison. La série en elle même est un \"Crystal\" dont la pureté s'enrichie grâce aux talents des acteurs principaux (Bryan Cranston, Aaron Paul mais aussi la famille Schrader ) ...                           Lire plus"</a:t>
            </a:r>
          </a:p>
          <a:p>
            <a:pPr lvl="0" indent="0">
              <a:buNone/>
            </a:pPr>
            <a:r>
              <a:rPr i="1">
                <a:solidFill>
                  <a:srgbClr val="60A0B0"/>
                </a:solidFill>
                <a:latin typeface="Courier"/>
              </a:rPr>
              <a:t># Lexique simplifié</a:t>
            </a:r>
            <a:br/>
            <a:r>
              <a:rPr>
                <a:latin typeface="Courier"/>
              </a:rPr>
              <a:t>positive_words </a:t>
            </a:r>
            <a:r>
              <a:rPr>
                <a:solidFill>
                  <a:srgbClr val="007020"/>
                </a:solidFill>
                <a:latin typeface="Courier"/>
              </a:rPr>
              <a:t>&lt;-</a:t>
            </a:r>
            <a:r>
              <a:rPr>
                <a:latin typeface="Courier"/>
              </a:rPr>
              <a:t> </a:t>
            </a:r>
            <a:r>
              <a:rPr>
                <a:solidFill>
                  <a:srgbClr val="06287E"/>
                </a:solidFill>
                <a:latin typeface="Courier"/>
              </a:rPr>
              <a:t>c</a:t>
            </a:r>
            <a:r>
              <a:rPr>
                <a:latin typeface="Courier"/>
              </a:rPr>
              <a:t>(</a:t>
            </a:r>
            <a:r>
              <a:rPr>
                <a:solidFill>
                  <a:srgbClr val="4070A0"/>
                </a:solidFill>
                <a:latin typeface="Courier"/>
              </a:rPr>
              <a:t>"bien"</a:t>
            </a:r>
            <a:r>
              <a:rPr>
                <a:latin typeface="Courier"/>
              </a:rPr>
              <a:t>, </a:t>
            </a:r>
            <a:r>
              <a:rPr>
                <a:solidFill>
                  <a:srgbClr val="4070A0"/>
                </a:solidFill>
                <a:latin typeface="Courier"/>
              </a:rPr>
              <a:t>"excellent"</a:t>
            </a:r>
            <a:r>
              <a:rPr>
                <a:latin typeface="Courier"/>
              </a:rPr>
              <a:t>, </a:t>
            </a:r>
            <a:r>
              <a:rPr>
                <a:solidFill>
                  <a:srgbClr val="4070A0"/>
                </a:solidFill>
                <a:latin typeface="Courier"/>
              </a:rPr>
              <a:t>"parfait"</a:t>
            </a:r>
            <a:r>
              <a:rPr>
                <a:latin typeface="Courier"/>
              </a:rPr>
              <a:t>, </a:t>
            </a:r>
            <a:r>
              <a:rPr>
                <a:solidFill>
                  <a:srgbClr val="4070A0"/>
                </a:solidFill>
                <a:latin typeface="Courier"/>
              </a:rPr>
              <a:t>"magnifique"</a:t>
            </a:r>
            <a:r>
              <a:rPr>
                <a:latin typeface="Courier"/>
              </a:rPr>
              <a:t>, </a:t>
            </a:r>
            <a:r>
              <a:rPr>
                <a:solidFill>
                  <a:srgbClr val="4070A0"/>
                </a:solidFill>
                <a:latin typeface="Courier"/>
              </a:rPr>
              <a:t>"intéressant"</a:t>
            </a:r>
            <a:r>
              <a:rPr>
                <a:latin typeface="Courier"/>
              </a:rPr>
              <a:t>, </a:t>
            </a:r>
            <a:r>
              <a:rPr>
                <a:solidFill>
                  <a:srgbClr val="4070A0"/>
                </a:solidFill>
                <a:latin typeface="Courier"/>
              </a:rPr>
              <a:t>"super"</a:t>
            </a:r>
            <a:r>
              <a:rPr>
                <a:latin typeface="Courier"/>
              </a:rPr>
              <a:t>)</a:t>
            </a:r>
            <a:br/>
            <a:r>
              <a:rPr>
                <a:latin typeface="Courier"/>
              </a:rPr>
              <a:t>negative_words </a:t>
            </a:r>
            <a:r>
              <a:rPr>
                <a:solidFill>
                  <a:srgbClr val="007020"/>
                </a:solidFill>
                <a:latin typeface="Courier"/>
              </a:rPr>
              <a:t>&lt;-</a:t>
            </a:r>
            <a:r>
              <a:rPr>
                <a:latin typeface="Courier"/>
              </a:rPr>
              <a:t> </a:t>
            </a:r>
            <a:r>
              <a:rPr>
                <a:solidFill>
                  <a:srgbClr val="06287E"/>
                </a:solidFill>
                <a:latin typeface="Courier"/>
              </a:rPr>
              <a:t>c</a:t>
            </a:r>
            <a:r>
              <a:rPr>
                <a:latin typeface="Courier"/>
              </a:rPr>
              <a:t>(</a:t>
            </a:r>
            <a:r>
              <a:rPr>
                <a:solidFill>
                  <a:srgbClr val="4070A0"/>
                </a:solidFill>
                <a:latin typeface="Courier"/>
              </a:rPr>
              <a:t>"mauvais"</a:t>
            </a:r>
            <a:r>
              <a:rPr>
                <a:latin typeface="Courier"/>
              </a:rPr>
              <a:t>, </a:t>
            </a:r>
            <a:r>
              <a:rPr>
                <a:solidFill>
                  <a:srgbClr val="4070A0"/>
                </a:solidFill>
                <a:latin typeface="Courier"/>
              </a:rPr>
              <a:t>"horrible"</a:t>
            </a:r>
            <a:r>
              <a:rPr>
                <a:latin typeface="Courier"/>
              </a:rPr>
              <a:t>, </a:t>
            </a:r>
            <a:r>
              <a:rPr>
                <a:solidFill>
                  <a:srgbClr val="4070A0"/>
                </a:solidFill>
                <a:latin typeface="Courier"/>
              </a:rPr>
              <a:t>"nul"</a:t>
            </a:r>
            <a:r>
              <a:rPr>
                <a:latin typeface="Courier"/>
              </a:rPr>
              <a:t>, </a:t>
            </a:r>
            <a:r>
              <a:rPr>
                <a:solidFill>
                  <a:srgbClr val="4070A0"/>
                </a:solidFill>
                <a:latin typeface="Courier"/>
              </a:rPr>
              <a:t>"ennuyeux"</a:t>
            </a:r>
            <a:r>
              <a:rPr>
                <a:latin typeface="Courier"/>
              </a:rPr>
              <a:t>, </a:t>
            </a:r>
            <a:r>
              <a:rPr>
                <a:solidFill>
                  <a:srgbClr val="4070A0"/>
                </a:solidFill>
                <a:latin typeface="Courier"/>
              </a:rPr>
              <a:t>"décevant"</a:t>
            </a:r>
            <a:r>
              <a:rPr>
                <a:latin typeface="Courier"/>
              </a:rPr>
              <a:t>, </a:t>
            </a:r>
            <a:r>
              <a:rPr>
                <a:solidFill>
                  <a:srgbClr val="4070A0"/>
                </a:solidFill>
                <a:latin typeface="Courier"/>
              </a:rPr>
              <a:t>"pire"</a:t>
            </a:r>
            <a:r>
              <a:rPr>
                <a:latin typeface="Courier"/>
              </a:rPr>
              <a:t>)</a:t>
            </a:r>
            <a:br/>
            <a:br/>
            <a:r>
              <a:rPr i="1">
                <a:solidFill>
                  <a:srgbClr val="60A0B0"/>
                </a:solidFill>
                <a:latin typeface="Courier"/>
              </a:rPr>
              <a:t># Calculer les scores de sentiment</a:t>
            </a:r>
            <a:br/>
            <a:r>
              <a:rPr>
                <a:latin typeface="Courier"/>
              </a:rPr>
              <a:t>sentiment_scores </a:t>
            </a:r>
            <a:r>
              <a:rPr>
                <a:solidFill>
                  <a:srgbClr val="007020"/>
                </a:solidFill>
                <a:latin typeface="Courier"/>
              </a:rPr>
              <a:t>&lt;-</a:t>
            </a:r>
            <a:r>
              <a:rPr>
                <a:latin typeface="Courier"/>
              </a:rPr>
              <a:t> </a:t>
            </a:r>
            <a:r>
              <a:rPr>
                <a:solidFill>
                  <a:srgbClr val="06287E"/>
                </a:solidFill>
                <a:latin typeface="Courier"/>
              </a:rPr>
              <a:t>sapply</a:t>
            </a:r>
            <a:r>
              <a:rPr>
                <a:latin typeface="Courier"/>
              </a:rPr>
              <a:t>(comments_clean, </a:t>
            </a:r>
            <a:r>
              <a:rPr b="1">
                <a:solidFill>
                  <a:srgbClr val="007020"/>
                </a:solidFill>
                <a:latin typeface="Courier"/>
              </a:rPr>
              <a:t>function</a:t>
            </a:r>
            <a:r>
              <a:rPr>
                <a:latin typeface="Courier"/>
              </a:rPr>
              <a:t>(comment) {</a:t>
            </a:r>
            <a:br/>
            <a:r>
              <a:rPr>
                <a:latin typeface="Courier"/>
              </a:rPr>
              <a:t>  pos </a:t>
            </a:r>
            <a:r>
              <a:rPr>
                <a:solidFill>
                  <a:srgbClr val="007020"/>
                </a:solidFill>
                <a:latin typeface="Courier"/>
              </a:rPr>
              <a:t>&lt;-</a:t>
            </a:r>
            <a:r>
              <a:rPr>
                <a:latin typeface="Courier"/>
              </a:rPr>
              <a:t> </a:t>
            </a:r>
            <a:r>
              <a:rPr>
                <a:solidFill>
                  <a:srgbClr val="06287E"/>
                </a:solidFill>
                <a:latin typeface="Courier"/>
              </a:rPr>
              <a:t>sum</a:t>
            </a:r>
            <a:r>
              <a:rPr>
                <a:latin typeface="Courier"/>
              </a:rPr>
              <a:t>(</a:t>
            </a:r>
            <a:r>
              <a:rPr>
                <a:solidFill>
                  <a:srgbClr val="06287E"/>
                </a:solidFill>
                <a:latin typeface="Courier"/>
              </a:rPr>
              <a:t>sapply</a:t>
            </a:r>
            <a:r>
              <a:rPr>
                <a:latin typeface="Courier"/>
              </a:rPr>
              <a:t>(positive_words, </a:t>
            </a:r>
            <a:r>
              <a:rPr b="1">
                <a:solidFill>
                  <a:srgbClr val="007020"/>
                </a:solidFill>
                <a:latin typeface="Courier"/>
              </a:rPr>
              <a:t>function</a:t>
            </a:r>
            <a:r>
              <a:rPr>
                <a:latin typeface="Courier"/>
              </a:rPr>
              <a:t>(word) </a:t>
            </a:r>
            <a:r>
              <a:rPr>
                <a:solidFill>
                  <a:srgbClr val="06287E"/>
                </a:solidFill>
                <a:latin typeface="Courier"/>
              </a:rPr>
              <a:t>grepl</a:t>
            </a:r>
            <a:r>
              <a:rPr>
                <a:latin typeface="Courier"/>
              </a:rPr>
              <a:t>(word, comment, </a:t>
            </a:r>
            <a:r>
              <a:rPr>
                <a:solidFill>
                  <a:srgbClr val="7D9029"/>
                </a:solidFill>
                <a:latin typeface="Courier"/>
              </a:rPr>
              <a:t>ignore.case =</a:t>
            </a:r>
            <a:r>
              <a:rPr>
                <a:latin typeface="Courier"/>
              </a:rPr>
              <a:t> </a:t>
            </a:r>
            <a:r>
              <a:rPr>
                <a:solidFill>
                  <a:srgbClr val="880000"/>
                </a:solidFill>
                <a:latin typeface="Courier"/>
              </a:rPr>
              <a:t>TRUE</a:t>
            </a:r>
            <a:r>
              <a:rPr>
                <a:latin typeface="Courier"/>
              </a:rPr>
              <a:t>)))</a:t>
            </a:r>
            <a:br/>
            <a:r>
              <a:rPr>
                <a:latin typeface="Courier"/>
              </a:rPr>
              <a:t>  neg </a:t>
            </a:r>
            <a:r>
              <a:rPr>
                <a:solidFill>
                  <a:srgbClr val="007020"/>
                </a:solidFill>
                <a:latin typeface="Courier"/>
              </a:rPr>
              <a:t>&lt;-</a:t>
            </a:r>
            <a:r>
              <a:rPr>
                <a:latin typeface="Courier"/>
              </a:rPr>
              <a:t> </a:t>
            </a:r>
            <a:r>
              <a:rPr>
                <a:solidFill>
                  <a:srgbClr val="06287E"/>
                </a:solidFill>
                <a:latin typeface="Courier"/>
              </a:rPr>
              <a:t>sum</a:t>
            </a:r>
            <a:r>
              <a:rPr>
                <a:latin typeface="Courier"/>
              </a:rPr>
              <a:t>(</a:t>
            </a:r>
            <a:r>
              <a:rPr>
                <a:solidFill>
                  <a:srgbClr val="06287E"/>
                </a:solidFill>
                <a:latin typeface="Courier"/>
              </a:rPr>
              <a:t>sapply</a:t>
            </a:r>
            <a:r>
              <a:rPr>
                <a:latin typeface="Courier"/>
              </a:rPr>
              <a:t>(negative_words, </a:t>
            </a:r>
            <a:r>
              <a:rPr b="1">
                <a:solidFill>
                  <a:srgbClr val="007020"/>
                </a:solidFill>
                <a:latin typeface="Courier"/>
              </a:rPr>
              <a:t>function</a:t>
            </a:r>
            <a:r>
              <a:rPr>
                <a:latin typeface="Courier"/>
              </a:rPr>
              <a:t>(word) </a:t>
            </a:r>
            <a:r>
              <a:rPr>
                <a:solidFill>
                  <a:srgbClr val="06287E"/>
                </a:solidFill>
                <a:latin typeface="Courier"/>
              </a:rPr>
              <a:t>grepl</a:t>
            </a:r>
            <a:r>
              <a:rPr>
                <a:latin typeface="Courier"/>
              </a:rPr>
              <a:t>(word, comment, </a:t>
            </a:r>
            <a:r>
              <a:rPr>
                <a:solidFill>
                  <a:srgbClr val="7D9029"/>
                </a:solidFill>
                <a:latin typeface="Courier"/>
              </a:rPr>
              <a:t>ignore.case =</a:t>
            </a:r>
            <a:r>
              <a:rPr>
                <a:latin typeface="Courier"/>
              </a:rPr>
              <a:t> </a:t>
            </a:r>
            <a:r>
              <a:rPr>
                <a:solidFill>
                  <a:srgbClr val="880000"/>
                </a:solidFill>
                <a:latin typeface="Courier"/>
              </a:rPr>
              <a:t>TRUE</a:t>
            </a:r>
            <a:r>
              <a:rPr>
                <a:latin typeface="Courier"/>
              </a:rPr>
              <a:t>)))</a:t>
            </a:r>
            <a:br/>
            <a:r>
              <a:rPr>
                <a:latin typeface="Courier"/>
              </a:rPr>
              <a:t>  pos </a:t>
            </a:r>
            <a:r>
              <a:rPr>
                <a:solidFill>
                  <a:srgbClr val="4070A0"/>
                </a:solidFill>
                <a:latin typeface="Courier"/>
              </a:rPr>
              <a:t>-</a:t>
            </a:r>
            <a:r>
              <a:rPr>
                <a:latin typeface="Courier"/>
              </a:rPr>
              <a:t> neg</a:t>
            </a:r>
            <a:br/>
            <a:r>
              <a:rPr>
                <a:latin typeface="Courier"/>
              </a:rPr>
              <a:t>})</a:t>
            </a:r>
            <a:br/>
            <a:br/>
            <a:r>
              <a:rPr i="1">
                <a:solidFill>
                  <a:srgbClr val="60A0B0"/>
                </a:solidFill>
                <a:latin typeface="Courier"/>
              </a:rPr>
              <a:t># Associer les scores aux commentaires</a:t>
            </a:r>
            <a:br/>
            <a:r>
              <a:rPr>
                <a:latin typeface="Courier"/>
              </a:rPr>
              <a:t>comments_data </a:t>
            </a:r>
            <a:r>
              <a:rPr>
                <a:solidFill>
                  <a:srgbClr val="007020"/>
                </a:solidFill>
                <a:latin typeface="Courier"/>
              </a:rPr>
              <a:t>&lt;-</a:t>
            </a:r>
            <a:r>
              <a:rPr>
                <a:latin typeface="Courier"/>
              </a:rPr>
              <a:t> </a:t>
            </a:r>
            <a:r>
              <a:rPr>
                <a:solidFill>
                  <a:srgbClr val="06287E"/>
                </a:solidFill>
                <a:latin typeface="Courier"/>
              </a:rPr>
              <a:t>data.frame</a:t>
            </a:r>
            <a:r>
              <a:rPr>
                <a:latin typeface="Courier"/>
              </a:rPr>
              <a:t>(</a:t>
            </a:r>
            <a:br/>
            <a:r>
              <a:rPr>
                <a:latin typeface="Courier"/>
              </a:rPr>
              <a:t>  </a:t>
            </a:r>
            <a:r>
              <a:rPr>
                <a:solidFill>
                  <a:srgbClr val="7D9029"/>
                </a:solidFill>
                <a:latin typeface="Courier"/>
              </a:rPr>
              <a:t>Comment =</a:t>
            </a:r>
            <a:r>
              <a:rPr>
                <a:latin typeface="Courier"/>
              </a:rPr>
              <a:t> comments_clean,</a:t>
            </a:r>
            <a:br/>
            <a:r>
              <a:rPr>
                <a:latin typeface="Courier"/>
              </a:rPr>
              <a:t>  </a:t>
            </a:r>
            <a:r>
              <a:rPr>
                <a:solidFill>
                  <a:srgbClr val="7D9029"/>
                </a:solidFill>
                <a:latin typeface="Courier"/>
              </a:rPr>
              <a:t>Sentiment =</a:t>
            </a:r>
            <a:r>
              <a:rPr>
                <a:latin typeface="Courier"/>
              </a:rPr>
              <a:t> sentiment_scores</a:t>
            </a:r>
            <a:br/>
            <a:r>
              <a:rPr>
                <a:latin typeface="Courier"/>
              </a:rPr>
              <a:t>)</a:t>
            </a:r>
            <a:br/>
            <a:br/>
            <a:r>
              <a:rPr i="1">
                <a:solidFill>
                  <a:srgbClr val="60A0B0"/>
                </a:solidFill>
                <a:latin typeface="Courier"/>
              </a:rPr>
              <a:t># Vérifier les résultats</a:t>
            </a:r>
            <a:br/>
            <a:r>
              <a:rPr>
                <a:solidFill>
                  <a:srgbClr val="06287E"/>
                </a:solidFill>
                <a:latin typeface="Courier"/>
              </a:rPr>
              <a:t>head</a:t>
            </a:r>
            <a:r>
              <a:rPr>
                <a:latin typeface="Courier"/>
              </a:rPr>
              <a:t>(comments_data, </a:t>
            </a:r>
            <a:r>
              <a:rPr>
                <a:solidFill>
                  <a:srgbClr val="40A070"/>
                </a:solidFill>
                <a:latin typeface="Courier"/>
              </a:rPr>
              <a:t>10</a:t>
            </a:r>
            <a:r>
              <a:rPr>
                <a:latin typeface="Courier"/>
              </a:rPr>
              <a:t>)</a:t>
            </a:r>
          </a:p>
          <a:p>
            <a:pPr lvl="0" indent="0">
              <a:buNone/>
            </a:pPr>
            <a:r>
              <a:rPr>
                <a:latin typeface="Courier"/>
              </a:rPr>
              <a:t>##                                                                                                                                                                                                                                                                                                                                                                                                                                                                                                                                                                                                                                                                                                                                                                                                                                                                                                                                                                                                                                                                                                                                                                                                                                                                                                                                                                                                                                                                                                                                                                                                                                                                                                                                                                                                                                                                                                                                   Comment
## Walter White, 50 ans, est professeur de chimie dans un lycée du Nouveau-Mexique. Pour subvenir aux besoins de Skyler, sa femme enceinte, et de Walt Junior, son fils handicapé, il est obligé de travailler doublement. Son quotidien déjà morose devient carrément noir lorsqu'il apprend qu'il est atteint d'un incurable cancer des poumons. Les médecins ne lui donnent pas plus de deux ans à vivre. Pour réunir rapidement beaucoup d'argent afin de mettre sa famille à l'abri, Walter ne voit plus qu'une solution : mettre ses connaissances en chimie à profit pour fabriquer et vendre du crystal meth, une drogue de synthèse qui rapporte beaucoup. Il propose à Jesse, un de ses anciens élèves devenu un petit dealer de seconde zone, de faire équipe avec lui. Le duo improvisé met en place un labo itinérant dans un vieux camping-car. Cette association inattendue va les entraîner dans une série de péripéties tant comiques que pathétiques. Walter White, 50 ans, est professeur de chimie dans un lycée du Nouveau-Mexique. Pour subvenir aux besoins de Skyler, sa femme enceinte, et de Walt Junior, son fils handicapé, il est obligé de travailler doublement. Son quotidien déjà morose devient carrément noir lorsqu'il apprend qu'il est atteint d'un incurable cancer des poumons. Les médecins ne lui donnent pas plus de deux ans à vivre. Pour réunir rapidement beaucoup d'argent afin de mettre sa famille à l'abri, Walter ne voit plus qu'une solution : mettre ses connaissances en chimie à profit pour fabriquer et vendre du crystal meth, une drogue de synthèse qui rapporte beaucoup. Il propose à Jesse, un de ses anciens élèves devenu un petit dealer de seconde zone, de faire équipe avec lui. Le duo improvisé met en place un labo itinérant dans un vieux camping-car. Cette association inattendue va les entraîner dans une série de péripéties tant comiques que pathétiques.
## Sombre, violente, passionnante, GRANDIOSE !!! Breaking Bad est tout simplement LE chef d'œuvre, tant au niveau de sa mise en scène que de son scénario. Les personnages sont passionnants, d'une très grande profondeur ,et interprétés par des acteurs fantastiques, qui livrent un travail époustouflant. La construction scénaristique est tout bonnement HALLUCINANTE. Chaque saison propose ses propres enjeux, tout en étant en parfaite ...                           Lire plus                                                                                                                                                                                                                                                                                                                                                                                                                                                                                                                                                                                                                                                                                                                                                                                                                                                                                                                                                             Sombre, violente, passionnante, GRANDIOSE !!! Breaking Bad est tout simplement LE chef d'œuvre, tant au niveau de sa mise en scène que de son scénario. Les personnages sont passionnants, d'une très grande profondeur ,et interprétés par des acteurs fantastiques, qui livrent un travail époustouflant. La construction scénaristique est tout bonnement HALLUCINANTE. Chaque saison propose ses propres enjeux, tout en étant en parfaite ...                           Lire plus
## C'est le 21 Août 2015, je m'en souviens parfaitement, que je me suis assis dans mon canapé. Le 21 Août, que j'ai commencé l'aventure "Breaking Bad". Un long périple s'est créer jusqu'à hier soir, Mercredi 9 Décembre, à 22 heures. Que puis-je dire après tout ce qui a déjà été dit ? Car oui, je considère moi aussi cette série en tant que chef d'œuvre.   Vince Gilligan nous offre une fresque d'un dramatisme intense et terriblement ...                           Lire plus                                                                                                                                                                                                                                                                                                                                                                                                                                                                                                                                                                                                                                                                                                                                                                                                                                                                                                                                                           C'est le 21 Août 2015, je m'en souviens parfaitement, que je me suis assis dans mon canapé. Le 21 Août, que j'ai commencé l'aventure "Breaking Bad". Un long périple s'est créer jusqu'à hier soir, Mercredi 9 Décembre, à 22 heures. Que puis-je dire après tout ce qui a déjà été dit ? Car oui, je considère moi aussi cette série en tant que chef d'œuvre.   Vince Gilligan nous offre une fresque d'un dramatisme intense et terriblement ...                           Lire plus
## Vous voulez en entendre une bonne ? Breaking Bad, à l'origine c'est une blague rien de plus. Une simple blague de Thomas Schnauz à son ami Vince Gilligan. Tous deux en panne sèche après l'arrêt de la série X-Files en 2002 (qui leur a mis le pied à l'étrier), les scénaristes au chômage ironisent de la situation au point que Schnauz émet l'hypothèse de lancer un labo de méthamphétamines dans un camping-car. La suite, vous la ...                           Lire plus                                                                                                                                                                                                                                                                                                                                                                                                                                                                                                                                                                                                                                                                                                                                                                                                                                                                                                                                                                     Vous voulez en entendre une bonne ? Breaking Bad, à l'origine c'est une blague rien de plus. Une simple blague de Thomas Schnauz à son ami Vince Gilligan. Tous deux en panne sèche après l'arrêt de la série X-Files en 2002 (qui leur a mis le pied à l'étrier), les scénaristes au chômage ironisent de la situation au point que Schnauz émet l'hypothèse de lancer un labo de méthamphétamines dans un camping-car. La suite, vous la ...                           Lire plus
## Le parcours de ce professeur de chimie entrainé dans un engrenage criminel est une pure délectation scénaristique. Dès ses premiers épisodes, la descente aux enfers de ce Walter White est brillamment décrite tandis que son évolution psychologique est parfaitement par ce Bryan Cranston qui, jusque-là inconnu, se révèle être un acteur absolument épatant. Mais au-delà de lui, chaque personnage est tout aussi bien traité et brillamment ...                           Lire plus                                                                                                                                                                                                                                                                                                                                                                                                                                                                                                                                                                                                                                                                                                                                                                                                                                                                                                                                                   Le parcours de ce professeur de chimie entrainé dans un engrenage criminel est une pure délectation scénaristique. Dès ses premiers épisodes, la descente aux enfers de ce Walter White est brillamment décrite tandis que son évolution psychologique est parfaitement par ce Bryan Cranston qui, jusque-là inconnu, se révèle être un acteur absolument épatant. Mais au-delà de lui, chaque personnage est tout aussi bien traité et brillamment ...                           Lire plus
## Avant de commencer à exprimé mon analyse sur cette série, je tiens à honorer Vince Gilligan qui est à mes yeux un génie, ce Grand monsieur maitrise son sujet avec une telle intelligence que le spectateur est frappé par des cliffhangers déconcertants de saison en saison. La série en elle même est un "Crystal" dont la pureté s'enrichie grâce aux talents des acteurs principaux (Bryan Cranston, Aaron Paul mais aussi la famille Schrader ) ...                           Lire plus                                                                                                                                                                                                                                                                                                                                                                                                                                                                                                                                                                                                                                                                                                                                                                                                                                                                                                                                               Avant de commencer à exprimé mon analyse sur cette série, je tiens à honorer Vince Gilligan qui est à mes yeux un génie, ce Grand monsieur maitrise son sujet avec une telle intelligence que le spectateur est frappé par des cliffhangers déconcertants de saison en saison. La série en elle même est un "Crystal" dont la pureté s'enrichie grâce aux talents des acteurs principaux (Bryan Cranston, Aaron Paul mais aussi la famille Schrader ) ...                           Lire plus
##                                                                                                                                                                                                                                                                                                                                                                                                                                                                                                                                                                                                                                                                                                                                                                                                                                                                                                                                                                      Sentiment
## Walter White, 50 ans, est professeur de chimie dans un lycée du Nouveau-Mexique. Pour subvenir aux besoins de Skyler, sa femme enceinte, et de Walt Junior, son fils handicapé, il est obligé de travailler doublement. Son quotidien déjà morose devient carrément noir lorsqu'il apprend qu'il est atteint d'un incurable cancer des poumons. Les médecins ne lui donnent pas plus de deux ans à vivre. Pour réunir rapidement beaucoup d'argent afin de mettre sa famille à l'abri, Walter ne voit plus qu'une solution : mettre ses connaissances en chimie à profit pour fabriquer et vendre du crystal meth, une drogue de synthèse qui rapporte beaucoup. Il propose à Jesse, un de ses anciens élèves devenu un petit dealer de seconde zone, de faire équipe avec lui. Le duo improvisé met en place un labo itinérant dans un vieux camping-car. Cette association inattendue va les entraîner dans une série de péripéties tant comiques que pathétiques.         0
## Sombre, violente, passionnante, GRANDIOSE !!! Breaking Bad est tout simplement LE chef d'œuvre, tant au niveau de sa mise en scène que de son scénario. Les personnages sont passionnants, d'une très grande profondeur ,et interprétés par des acteurs fantastiques, qui livrent un travail époustouflant. La construction scénaristique est tout bonnement HALLUCINANTE. Chaque saison propose ses propres enjeux, tout en étant en parfaite ...                           Lire plus                                                                                                                                                                                                                                                                                                                                                                                                                                                                                       1
## C'est le 21 Août 2015, je m'en souviens parfaitement, que je me suis assis dans mon canapé. Le 21 Août, que j'ai commencé l'aventure "Breaking Bad". Un long périple s'est créer jusqu'à hier soir, Mercredi 9 Décembre, à 22 heures. Que puis-je dire après tout ce qui a déjà été dit ? Car oui, je considère moi aussi cette série en tant que chef d'œuvre.   Vince Gilligan nous offre une fresque d'un dramatisme intense et terriblement ...                           Lire plus                                                                                                                                                                                                                                                                                                                                                                                                                                                                                      1
## Vous voulez en entendre une bonne ? Breaking Bad, à l'origine c'est une blague rien de plus. Une simple blague de Thomas Schnauz à son ami Vince Gilligan. Tous deux en panne sèche après l'arrêt de la série X-Files en 2002 (qui leur a mis le pied à l'étrier), les scénaristes au chômage ironisent de la situation au point que Schnauz émet l'hypothèse de lancer un labo de méthamphétamines dans un camping-car. La suite, vous la ...                           Lire plus                                                                                                                                                                                                                                                                                                                                                                                                                                                                                           0
## Le parcours de ce professeur de chimie entrainé dans un engrenage criminel est une pure délectation scénaristique. Dès ses premiers épisodes, la descente aux enfers de ce Walter White est brillamment décrite tandis que son évolution psychologique est parfaitement par ce Bryan Cranston qui, jusque-là inconnu, se révèle être un acteur absolument épatant. Mais au-delà de lui, chaque personnage est tout aussi bien traité et brillamment ...                           Lire plus                                                                                                                                                                                                                                                                                                                                                                                                                                                                                  2
## Avant de commencer à exprimé mon analyse sur cette série, je tiens à honorer Vince Gilligan qui est à mes yeux un génie, ce Grand monsieur maitrise son sujet avec une telle intelligence que le spectateur est frappé par des cliffhangers déconcertants de saison en saison. La série en elle même est un "Crystal" dont la pureté s'enrichie grâce aux talents des acteurs principaux (Bryan Cranston, Aaron Paul mais aussi la famille Schrader ) ...                           Lire plus                                                                                                                                                                                                                                                                                                                                                                                                                                                                                0</a:t>
            </a:r>
          </a:p>
          <a:p>
            <a:pPr lvl="0" indent="0">
              <a:buNone/>
            </a:pPr>
            <a:r>
              <a:rPr i="1">
                <a:solidFill>
                  <a:srgbClr val="60A0B0"/>
                </a:solidFill>
                <a:latin typeface="Courier"/>
              </a:rPr>
              <a:t># Ajouter une colonne pour les types de sentiments</a:t>
            </a:r>
            <a:br/>
            <a:r>
              <a:rPr>
                <a:latin typeface="Courier"/>
              </a:rPr>
              <a:t>comments_data </a:t>
            </a:r>
            <a:r>
              <a:rPr>
                <a:solidFill>
                  <a:srgbClr val="007020"/>
                </a:solidFill>
                <a:latin typeface="Courier"/>
              </a:rPr>
              <a:t>&lt;-</a:t>
            </a:r>
            <a:r>
              <a:rPr>
                <a:latin typeface="Courier"/>
              </a:rPr>
              <a:t> comments_data </a:t>
            </a:r>
            <a:r>
              <a:rPr>
                <a:solidFill>
                  <a:srgbClr val="4070A0"/>
                </a:solidFill>
                <a:latin typeface="Courier"/>
              </a:rPr>
              <a:t>%&gt;%</a:t>
            </a:r>
            <a:br/>
            <a:r>
              <a:rPr>
                <a:latin typeface="Courier"/>
              </a:rPr>
              <a:t>  </a:t>
            </a:r>
            <a:r>
              <a:rPr>
                <a:solidFill>
                  <a:srgbClr val="06287E"/>
                </a:solidFill>
                <a:latin typeface="Courier"/>
              </a:rPr>
              <a:t>mutate</a:t>
            </a:r>
            <a:r>
              <a:rPr>
                <a:latin typeface="Courier"/>
              </a:rPr>
              <a:t>(</a:t>
            </a:r>
            <a:r>
              <a:rPr>
                <a:solidFill>
                  <a:srgbClr val="7D9029"/>
                </a:solidFill>
                <a:latin typeface="Courier"/>
              </a:rPr>
              <a:t>SentimentType =</a:t>
            </a:r>
            <a:r>
              <a:rPr>
                <a:latin typeface="Courier"/>
              </a:rPr>
              <a:t> </a:t>
            </a:r>
            <a:r>
              <a:rPr>
                <a:solidFill>
                  <a:srgbClr val="06287E"/>
                </a:solidFill>
                <a:latin typeface="Courier"/>
              </a:rPr>
              <a:t>ifelse</a:t>
            </a:r>
            <a:r>
              <a:rPr>
                <a:latin typeface="Courier"/>
              </a:rPr>
              <a:t>(Sentiment </a:t>
            </a:r>
            <a:r>
              <a:rPr>
                <a:solidFill>
                  <a:srgbClr val="4070A0"/>
                </a:solidFill>
                <a:latin typeface="Courier"/>
              </a:rPr>
              <a:t>&gt;</a:t>
            </a:r>
            <a:r>
              <a:rPr>
                <a:latin typeface="Courier"/>
              </a:rPr>
              <a:t> </a:t>
            </a:r>
            <a:r>
              <a:rPr>
                <a:solidFill>
                  <a:srgbClr val="40A070"/>
                </a:solidFill>
                <a:latin typeface="Courier"/>
              </a:rPr>
              <a:t>0</a:t>
            </a:r>
            <a:r>
              <a:rPr>
                <a:latin typeface="Courier"/>
              </a:rPr>
              <a:t>, </a:t>
            </a:r>
            <a:r>
              <a:rPr>
                <a:solidFill>
                  <a:srgbClr val="4070A0"/>
                </a:solidFill>
                <a:latin typeface="Courier"/>
              </a:rPr>
              <a:t>"Positif"</a:t>
            </a:r>
            <a:r>
              <a:rPr>
                <a:latin typeface="Courier"/>
              </a:rPr>
              <a:t>, </a:t>
            </a:r>
            <a:br/>
            <a:r>
              <a:rPr>
                <a:latin typeface="Courier"/>
              </a:rPr>
              <a:t>                                </a:t>
            </a:r>
            <a:r>
              <a:rPr>
                <a:solidFill>
                  <a:srgbClr val="06287E"/>
                </a:solidFill>
                <a:latin typeface="Courier"/>
              </a:rPr>
              <a:t>ifelse</a:t>
            </a:r>
            <a:r>
              <a:rPr>
                <a:latin typeface="Courier"/>
              </a:rPr>
              <a:t>(Sentiment </a:t>
            </a:r>
            <a:r>
              <a:rPr>
                <a:solidFill>
                  <a:srgbClr val="4070A0"/>
                </a:solidFill>
                <a:latin typeface="Courier"/>
              </a:rPr>
              <a:t>&lt;</a:t>
            </a:r>
            <a:r>
              <a:rPr>
                <a:latin typeface="Courier"/>
              </a:rPr>
              <a:t> </a:t>
            </a:r>
            <a:r>
              <a:rPr>
                <a:solidFill>
                  <a:srgbClr val="40A070"/>
                </a:solidFill>
                <a:latin typeface="Courier"/>
              </a:rPr>
              <a:t>0</a:t>
            </a:r>
            <a:r>
              <a:rPr>
                <a:latin typeface="Courier"/>
              </a:rPr>
              <a:t>, </a:t>
            </a:r>
            <a:r>
              <a:rPr>
                <a:solidFill>
                  <a:srgbClr val="4070A0"/>
                </a:solidFill>
                <a:latin typeface="Courier"/>
              </a:rPr>
              <a:t>"Négatif"</a:t>
            </a:r>
            <a:r>
              <a:rPr>
                <a:latin typeface="Courier"/>
              </a:rPr>
              <a:t>, </a:t>
            </a:r>
            <a:r>
              <a:rPr>
                <a:solidFill>
                  <a:srgbClr val="4070A0"/>
                </a:solidFill>
                <a:latin typeface="Courier"/>
              </a:rPr>
              <a:t>"Neutre"</a:t>
            </a:r>
            <a:r>
              <a:rPr>
                <a:latin typeface="Courier"/>
              </a:rPr>
              <a:t>)))</a:t>
            </a:r>
            <a:br/>
            <a:br/>
            <a:r>
              <a:rPr i="1">
                <a:solidFill>
                  <a:srgbClr val="60A0B0"/>
                </a:solidFill>
                <a:latin typeface="Courier"/>
              </a:rPr>
              <a:t># Résumé des sentiments</a:t>
            </a:r>
            <a:br/>
            <a:r>
              <a:rPr>
                <a:latin typeface="Courier"/>
              </a:rPr>
              <a:t>sentiment_summary </a:t>
            </a:r>
            <a:r>
              <a:rPr>
                <a:solidFill>
                  <a:srgbClr val="007020"/>
                </a:solidFill>
                <a:latin typeface="Courier"/>
              </a:rPr>
              <a:t>&lt;-</a:t>
            </a:r>
            <a:r>
              <a:rPr>
                <a:latin typeface="Courier"/>
              </a:rPr>
              <a:t> comments_data </a:t>
            </a:r>
            <a:r>
              <a:rPr>
                <a:solidFill>
                  <a:srgbClr val="4070A0"/>
                </a:solidFill>
                <a:latin typeface="Courier"/>
              </a:rPr>
              <a:t>%&gt;%</a:t>
            </a:r>
            <a:br/>
            <a:r>
              <a:rPr>
                <a:latin typeface="Courier"/>
              </a:rPr>
              <a:t>  </a:t>
            </a:r>
            <a:r>
              <a:rPr>
                <a:solidFill>
                  <a:srgbClr val="06287E"/>
                </a:solidFill>
                <a:latin typeface="Courier"/>
              </a:rPr>
              <a:t>group_by</a:t>
            </a:r>
            <a:r>
              <a:rPr>
                <a:latin typeface="Courier"/>
              </a:rPr>
              <a:t>(SentimentType) </a:t>
            </a:r>
            <a:r>
              <a:rPr>
                <a:solidFill>
                  <a:srgbClr val="4070A0"/>
                </a:solidFill>
                <a:latin typeface="Courier"/>
              </a:rPr>
              <a:t>%&gt;%</a:t>
            </a:r>
            <a:br/>
            <a:r>
              <a:rPr>
                <a:latin typeface="Courier"/>
              </a:rPr>
              <a:t>  </a:t>
            </a:r>
            <a:r>
              <a:rPr>
                <a:solidFill>
                  <a:srgbClr val="06287E"/>
                </a:solidFill>
                <a:latin typeface="Courier"/>
              </a:rPr>
              <a:t>summarise</a:t>
            </a:r>
            <a:r>
              <a:rPr>
                <a:latin typeface="Courier"/>
              </a:rPr>
              <a:t>(</a:t>
            </a:r>
            <a:r>
              <a:rPr>
                <a:solidFill>
                  <a:srgbClr val="7D9029"/>
                </a:solidFill>
                <a:latin typeface="Courier"/>
              </a:rPr>
              <a:t>Count =</a:t>
            </a:r>
            <a:r>
              <a:rPr>
                <a:latin typeface="Courier"/>
              </a:rPr>
              <a:t> </a:t>
            </a:r>
            <a:r>
              <a:rPr>
                <a:solidFill>
                  <a:srgbClr val="06287E"/>
                </a:solidFill>
                <a:latin typeface="Courier"/>
              </a:rPr>
              <a:t>n</a:t>
            </a:r>
            <a:r>
              <a:rPr>
                <a:latin typeface="Courier"/>
              </a:rPr>
              <a:t>())</a:t>
            </a:r>
            <a:br/>
            <a:br/>
            <a:r>
              <a:rPr i="1">
                <a:solidFill>
                  <a:srgbClr val="60A0B0"/>
                </a:solidFill>
                <a:latin typeface="Courier"/>
              </a:rPr>
              <a:t># Créer un diagramme circulaire</a:t>
            </a:r>
            <a:br/>
            <a:r>
              <a:rPr>
                <a:solidFill>
                  <a:srgbClr val="06287E"/>
                </a:solidFill>
                <a:latin typeface="Courier"/>
              </a:rPr>
              <a:t>ggplot</a:t>
            </a:r>
            <a:r>
              <a:rPr>
                <a:latin typeface="Courier"/>
              </a:rPr>
              <a:t>(sentiment_summary, </a:t>
            </a:r>
            <a:r>
              <a:rPr>
                <a:solidFill>
                  <a:srgbClr val="06287E"/>
                </a:solidFill>
                <a:latin typeface="Courier"/>
              </a:rPr>
              <a:t>aes</a:t>
            </a:r>
            <a:r>
              <a:rPr>
                <a:latin typeface="Courier"/>
              </a:rPr>
              <a:t>(</a:t>
            </a:r>
            <a:r>
              <a:rPr>
                <a:solidFill>
                  <a:srgbClr val="7D9029"/>
                </a:solidFill>
                <a:latin typeface="Courier"/>
              </a:rPr>
              <a:t>x =</a:t>
            </a:r>
            <a:r>
              <a:rPr>
                <a:latin typeface="Courier"/>
              </a:rPr>
              <a:t> </a:t>
            </a:r>
            <a:r>
              <a:rPr>
                <a:solidFill>
                  <a:srgbClr val="4070A0"/>
                </a:solidFill>
                <a:latin typeface="Courier"/>
              </a:rPr>
              <a:t>""</a:t>
            </a:r>
            <a:r>
              <a:rPr>
                <a:latin typeface="Courier"/>
              </a:rPr>
              <a:t>, </a:t>
            </a:r>
            <a:r>
              <a:rPr>
                <a:solidFill>
                  <a:srgbClr val="7D9029"/>
                </a:solidFill>
                <a:latin typeface="Courier"/>
              </a:rPr>
              <a:t>y =</a:t>
            </a:r>
            <a:r>
              <a:rPr>
                <a:latin typeface="Courier"/>
              </a:rPr>
              <a:t> Count, </a:t>
            </a:r>
            <a:r>
              <a:rPr>
                <a:solidFill>
                  <a:srgbClr val="7D9029"/>
                </a:solidFill>
                <a:latin typeface="Courier"/>
              </a:rPr>
              <a:t>fill =</a:t>
            </a:r>
            <a:r>
              <a:rPr>
                <a:latin typeface="Courier"/>
              </a:rPr>
              <a:t> SentimentType)) </a:t>
            </a:r>
            <a:r>
              <a:rPr>
                <a:solidFill>
                  <a:srgbClr val="4070A0"/>
                </a:solidFill>
                <a:latin typeface="Courier"/>
              </a:rPr>
              <a:t>+</a:t>
            </a:r>
            <a:br/>
            <a:r>
              <a:rPr>
                <a:latin typeface="Courier"/>
              </a:rPr>
              <a:t>  </a:t>
            </a:r>
            <a:r>
              <a:rPr>
                <a:solidFill>
                  <a:srgbClr val="06287E"/>
                </a:solidFill>
                <a:latin typeface="Courier"/>
              </a:rPr>
              <a:t>geom_bar</a:t>
            </a:r>
            <a:r>
              <a:rPr>
                <a:latin typeface="Courier"/>
              </a:rPr>
              <a:t>(</a:t>
            </a:r>
            <a:r>
              <a:rPr>
                <a:solidFill>
                  <a:srgbClr val="7D9029"/>
                </a:solidFill>
                <a:latin typeface="Courier"/>
              </a:rPr>
              <a:t>stat =</a:t>
            </a:r>
            <a:r>
              <a:rPr>
                <a:latin typeface="Courier"/>
              </a:rPr>
              <a:t> </a:t>
            </a:r>
            <a:r>
              <a:rPr>
                <a:solidFill>
                  <a:srgbClr val="4070A0"/>
                </a:solidFill>
                <a:latin typeface="Courier"/>
              </a:rPr>
              <a:t>"identity"</a:t>
            </a:r>
            <a:r>
              <a:rPr>
                <a:latin typeface="Courier"/>
              </a:rPr>
              <a:t>, </a:t>
            </a:r>
            <a:r>
              <a:rPr>
                <a:solidFill>
                  <a:srgbClr val="7D9029"/>
                </a:solidFill>
                <a:latin typeface="Courier"/>
              </a:rPr>
              <a:t>width =</a:t>
            </a:r>
            <a:r>
              <a:rPr>
                <a:latin typeface="Courier"/>
              </a:rPr>
              <a:t> </a:t>
            </a:r>
            <a:r>
              <a:rPr>
                <a:solidFill>
                  <a:srgbClr val="40A070"/>
                </a:solidFill>
                <a:latin typeface="Courier"/>
              </a:rPr>
              <a:t>1</a:t>
            </a:r>
            <a:r>
              <a:rPr>
                <a:latin typeface="Courier"/>
              </a:rPr>
              <a:t>) </a:t>
            </a:r>
            <a:r>
              <a:rPr>
                <a:solidFill>
                  <a:srgbClr val="4070A0"/>
                </a:solidFill>
                <a:latin typeface="Courier"/>
              </a:rPr>
              <a:t>+</a:t>
            </a:r>
            <a:br/>
            <a:r>
              <a:rPr>
                <a:latin typeface="Courier"/>
              </a:rPr>
              <a:t>  </a:t>
            </a:r>
            <a:r>
              <a:rPr>
                <a:solidFill>
                  <a:srgbClr val="06287E"/>
                </a:solidFill>
                <a:latin typeface="Courier"/>
              </a:rPr>
              <a:t>coord_polar</a:t>
            </a:r>
            <a:r>
              <a:rPr>
                <a:latin typeface="Courier"/>
              </a:rPr>
              <a:t>(</a:t>
            </a:r>
            <a:r>
              <a:rPr>
                <a:solidFill>
                  <a:srgbClr val="4070A0"/>
                </a:solidFill>
                <a:latin typeface="Courier"/>
              </a:rPr>
              <a:t>"y"</a:t>
            </a:r>
            <a:r>
              <a:rPr>
                <a:latin typeface="Courier"/>
              </a:rPr>
              <a:t>) </a:t>
            </a:r>
            <a:r>
              <a:rPr>
                <a:solidFill>
                  <a:srgbClr val="4070A0"/>
                </a:solidFill>
                <a:latin typeface="Courier"/>
              </a:rPr>
              <a:t>+</a:t>
            </a:r>
            <a:br/>
            <a:r>
              <a:rPr>
                <a:latin typeface="Courier"/>
              </a:rPr>
              <a:t>  </a:t>
            </a:r>
            <a:r>
              <a:rPr>
                <a:solidFill>
                  <a:srgbClr val="06287E"/>
                </a:solidFill>
                <a:latin typeface="Courier"/>
              </a:rPr>
              <a:t>labs</a:t>
            </a:r>
            <a:r>
              <a:rPr>
                <a:latin typeface="Courier"/>
              </a:rPr>
              <a:t>(</a:t>
            </a:r>
            <a:r>
              <a:rPr>
                <a:solidFill>
                  <a:srgbClr val="7D9029"/>
                </a:solidFill>
                <a:latin typeface="Courier"/>
              </a:rPr>
              <a:t>title =</a:t>
            </a:r>
            <a:r>
              <a:rPr>
                <a:latin typeface="Courier"/>
              </a:rPr>
              <a:t> </a:t>
            </a:r>
            <a:r>
              <a:rPr>
                <a:solidFill>
                  <a:srgbClr val="4070A0"/>
                </a:solidFill>
                <a:latin typeface="Courier"/>
              </a:rPr>
              <a:t>"Répartition des sentiments des commentaires"</a:t>
            </a:r>
            <a:r>
              <a:rPr>
                <a:latin typeface="Courier"/>
              </a:rPr>
              <a:t>, </a:t>
            </a:r>
            <a:r>
              <a:rPr>
                <a:solidFill>
                  <a:srgbClr val="7D9029"/>
                </a:solidFill>
                <a:latin typeface="Courier"/>
              </a:rPr>
              <a:t>x =</a:t>
            </a:r>
            <a:r>
              <a:rPr>
                <a:latin typeface="Courier"/>
              </a:rPr>
              <a:t> </a:t>
            </a:r>
            <a:r>
              <a:rPr>
                <a:solidFill>
                  <a:srgbClr val="4070A0"/>
                </a:solidFill>
                <a:latin typeface="Courier"/>
              </a:rPr>
              <a:t>""</a:t>
            </a:r>
            <a:r>
              <a:rPr>
                <a:latin typeface="Courier"/>
              </a:rPr>
              <a:t>, </a:t>
            </a:r>
            <a:r>
              <a:rPr>
                <a:solidFill>
                  <a:srgbClr val="7D9029"/>
                </a:solidFill>
                <a:latin typeface="Courier"/>
              </a:rPr>
              <a:t>y =</a:t>
            </a:r>
            <a:r>
              <a:rPr>
                <a:latin typeface="Courier"/>
              </a:rPr>
              <a:t> </a:t>
            </a:r>
            <a:r>
              <a:rPr>
                <a:solidFill>
                  <a:srgbClr val="4070A0"/>
                </a:solidFill>
                <a:latin typeface="Courier"/>
              </a:rPr>
              <a:t>""</a:t>
            </a:r>
            <a:r>
              <a:rPr>
                <a:latin typeface="Courier"/>
              </a:rPr>
              <a:t>) </a:t>
            </a:r>
            <a:r>
              <a:rPr>
                <a:solidFill>
                  <a:srgbClr val="4070A0"/>
                </a:solidFill>
                <a:latin typeface="Courier"/>
              </a:rPr>
              <a:t>+</a:t>
            </a:r>
            <a:br/>
            <a:r>
              <a:rPr>
                <a:latin typeface="Courier"/>
              </a:rPr>
              <a:t>  </a:t>
            </a:r>
            <a:r>
              <a:rPr>
                <a:solidFill>
                  <a:srgbClr val="06287E"/>
                </a:solidFill>
                <a:latin typeface="Courier"/>
              </a:rPr>
              <a:t>theme_minimal</a:t>
            </a:r>
            <a:r>
              <a:rPr>
                <a:latin typeface="Courier"/>
              </a:rPr>
              <a:t>() </a:t>
            </a:r>
            <a:r>
              <a:rPr>
                <a:solidFill>
                  <a:srgbClr val="4070A0"/>
                </a:solidFill>
                <a:latin typeface="Courier"/>
              </a:rPr>
              <a:t>+</a:t>
            </a:r>
            <a:br/>
            <a:r>
              <a:rPr>
                <a:latin typeface="Courier"/>
              </a:rPr>
              <a:t>  </a:t>
            </a:r>
            <a:r>
              <a:rPr>
                <a:solidFill>
                  <a:srgbClr val="06287E"/>
                </a:solidFill>
                <a:latin typeface="Courier"/>
              </a:rPr>
              <a:t>theme</a:t>
            </a:r>
            <a:r>
              <a:rPr>
                <a:latin typeface="Courier"/>
              </a:rPr>
              <a:t>(</a:t>
            </a:r>
            <a:r>
              <a:rPr>
                <a:solidFill>
                  <a:srgbClr val="7D9029"/>
                </a:solidFill>
                <a:latin typeface="Courier"/>
              </a:rPr>
              <a:t>axis.text.x =</a:t>
            </a:r>
            <a:r>
              <a:rPr>
                <a:latin typeface="Courier"/>
              </a:rPr>
              <a:t> </a:t>
            </a:r>
            <a:r>
              <a:rPr>
                <a:solidFill>
                  <a:srgbClr val="06287E"/>
                </a:solidFill>
                <a:latin typeface="Courier"/>
              </a:rPr>
              <a:t>element_blank</a:t>
            </a:r>
            <a:r>
              <a:rPr>
                <a:latin typeface="Courier"/>
              </a:rPr>
              <a:t>())</a:t>
            </a:r>
          </a:p>
        </p:txBody>
      </p:sp>
      <p:pic>
        <p:nvPicPr>
          <p:cNvPr id="2" name="Picture 1" descr="1111111111_files/figure-pptx/unnamed-chunk-7-1.png"/>
          <p:cNvPicPr>
            <a:picLocks noGrp="1" noChangeAspect="1"/>
          </p:cNvPicPr>
          <p:nvPr/>
        </p:nvPicPr>
        <p:blipFill>
          <a:blip r:embed="rId2"/>
          <a:stretch>
            <a:fillRect/>
          </a:stretch>
        </p:blipFill>
        <p:spPr bwMode="auto">
          <a:xfrm>
            <a:off x="3568700" y="355600"/>
            <a:ext cx="5105400" cy="4089400"/>
          </a:xfrm>
          <a:prstGeom prst="rect">
            <a:avLst/>
          </a:prstGeom>
          <a:noFill/>
          <a:ln w="9525">
            <a:noFill/>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p:txBody>
          <a:bodyPr/>
          <a:lstStyle/>
          <a:p>
            <a:pPr marL="0" lvl="0" indent="0">
              <a:buNone/>
            </a:pPr>
            <a:endParaRPr/>
          </a:p>
          <a:p>
            <a:pPr marL="0" lvl="0" indent="0">
              <a:buNone/>
            </a:pPr>
            <a:r>
              <a:t>Ce graphique montre une répartition égale entre les commentaires neutres et positifs. Chaque type de sentiment représente 50 % des commentaires analysés. Cela indique un équilibre dans les réactions des utilisateurs, avec autant de neutralité que d’enthousiasme dans les retours. Le nombre de commentaire négatif est petit par par rapport aux commentaires positifs et neutres, ce qui pourrait suggérer une perception globalement favorable ou des critères de tri spécifiques pour les données. Cette distribution reflète un ton globalement positif et modéré dans les commentaires.</a:t>
            </a:r>
          </a:p>
          <a:p>
            <a:pPr lvl="0" indent="0">
              <a:buNone/>
            </a:pPr>
            <a:r>
              <a:rPr i="1">
                <a:solidFill>
                  <a:srgbClr val="60A0B0"/>
                </a:solidFill>
                <a:latin typeface="Courier"/>
              </a:rPr>
              <a:t># Exemple de commentaires nettoyés (utilisez votre liste `comments_clean`)</a:t>
            </a:r>
            <a:br/>
            <a:r>
              <a:rPr>
                <a:latin typeface="Courier"/>
              </a:rPr>
              <a:t>comments_clean </a:t>
            </a:r>
            <a:r>
              <a:rPr>
                <a:solidFill>
                  <a:srgbClr val="007020"/>
                </a:solidFill>
                <a:latin typeface="Courier"/>
              </a:rPr>
              <a:t>&lt;-</a:t>
            </a:r>
            <a:r>
              <a:rPr>
                <a:latin typeface="Courier"/>
              </a:rPr>
              <a:t> </a:t>
            </a:r>
            <a:r>
              <a:rPr>
                <a:solidFill>
                  <a:srgbClr val="06287E"/>
                </a:solidFill>
                <a:latin typeface="Courier"/>
              </a:rPr>
              <a:t>tolower</a:t>
            </a:r>
            <a:r>
              <a:rPr>
                <a:latin typeface="Courier"/>
              </a:rPr>
              <a:t>(comments_clean)   </a:t>
            </a:r>
            <a:r>
              <a:rPr i="1">
                <a:solidFill>
                  <a:srgbClr val="60A0B0"/>
                </a:solidFill>
                <a:latin typeface="Courier"/>
              </a:rPr>
              <a:t># Convertir en minuscules</a:t>
            </a:r>
            <a:br/>
            <a:r>
              <a:rPr>
                <a:latin typeface="Courier"/>
              </a:rPr>
              <a:t>comments_clean </a:t>
            </a:r>
            <a:r>
              <a:rPr>
                <a:solidFill>
                  <a:srgbClr val="007020"/>
                </a:solidFill>
                <a:latin typeface="Courier"/>
              </a:rPr>
              <a:t>&lt;-</a:t>
            </a:r>
            <a:r>
              <a:rPr>
                <a:latin typeface="Courier"/>
              </a:rPr>
              <a:t> </a:t>
            </a:r>
            <a:r>
              <a:rPr>
                <a:solidFill>
                  <a:srgbClr val="06287E"/>
                </a:solidFill>
                <a:latin typeface="Courier"/>
              </a:rPr>
              <a:t>gsub</a:t>
            </a:r>
            <a:r>
              <a:rPr>
                <a:latin typeface="Courier"/>
              </a:rPr>
              <a:t>(</a:t>
            </a:r>
            <a:r>
              <a:rPr>
                <a:solidFill>
                  <a:srgbClr val="4070A0"/>
                </a:solidFill>
                <a:latin typeface="Courier"/>
              </a:rPr>
              <a:t>"[[:punct:]]"</a:t>
            </a:r>
            <a:r>
              <a:rPr>
                <a:latin typeface="Courier"/>
              </a:rPr>
              <a:t>, </a:t>
            </a:r>
            <a:r>
              <a:rPr>
                <a:solidFill>
                  <a:srgbClr val="4070A0"/>
                </a:solidFill>
                <a:latin typeface="Courier"/>
              </a:rPr>
              <a:t>" "</a:t>
            </a:r>
            <a:r>
              <a:rPr>
                <a:latin typeface="Courier"/>
              </a:rPr>
              <a:t>, comments_clean)  </a:t>
            </a:r>
            <a:r>
              <a:rPr i="1">
                <a:solidFill>
                  <a:srgbClr val="60A0B0"/>
                </a:solidFill>
                <a:latin typeface="Courier"/>
              </a:rPr>
              <a:t># Retirer la ponctuation</a:t>
            </a:r>
            <a:br/>
            <a:r>
              <a:rPr>
                <a:latin typeface="Courier"/>
              </a:rPr>
              <a:t>comments_clean </a:t>
            </a:r>
            <a:r>
              <a:rPr>
                <a:solidFill>
                  <a:srgbClr val="007020"/>
                </a:solidFill>
                <a:latin typeface="Courier"/>
              </a:rPr>
              <a:t>&lt;-</a:t>
            </a:r>
            <a:r>
              <a:rPr>
                <a:latin typeface="Courier"/>
              </a:rPr>
              <a:t> </a:t>
            </a:r>
            <a:r>
              <a:rPr>
                <a:solidFill>
                  <a:srgbClr val="06287E"/>
                </a:solidFill>
                <a:latin typeface="Courier"/>
              </a:rPr>
              <a:t>gsub</a:t>
            </a:r>
            <a:r>
              <a:rPr>
                <a:latin typeface="Courier"/>
              </a:rPr>
              <a:t>(</a:t>
            </a:r>
            <a:r>
              <a:rPr>
                <a:solidFill>
                  <a:srgbClr val="4070A0"/>
                </a:solidFill>
                <a:latin typeface="Courier"/>
              </a:rPr>
              <a:t>"[[:digit:]]"</a:t>
            </a:r>
            <a:r>
              <a:rPr>
                <a:latin typeface="Courier"/>
              </a:rPr>
              <a:t>, </a:t>
            </a:r>
            <a:r>
              <a:rPr>
                <a:solidFill>
                  <a:srgbClr val="4070A0"/>
                </a:solidFill>
                <a:latin typeface="Courier"/>
              </a:rPr>
              <a:t>" "</a:t>
            </a:r>
            <a:r>
              <a:rPr>
                <a:latin typeface="Courier"/>
              </a:rPr>
              <a:t>, comments_clean)  </a:t>
            </a:r>
            <a:r>
              <a:rPr i="1">
                <a:solidFill>
                  <a:srgbClr val="60A0B0"/>
                </a:solidFill>
                <a:latin typeface="Courier"/>
              </a:rPr>
              <a:t># Retirer les chiffres</a:t>
            </a:r>
            <a:br/>
            <a:r>
              <a:rPr>
                <a:latin typeface="Courier"/>
              </a:rPr>
              <a:t>comments_clean </a:t>
            </a:r>
            <a:r>
              <a:rPr>
                <a:solidFill>
                  <a:srgbClr val="007020"/>
                </a:solidFill>
                <a:latin typeface="Courier"/>
              </a:rPr>
              <a:t>&lt;-</a:t>
            </a:r>
            <a:r>
              <a:rPr>
                <a:latin typeface="Courier"/>
              </a:rPr>
              <a:t> </a:t>
            </a:r>
            <a:r>
              <a:rPr>
                <a:solidFill>
                  <a:srgbClr val="06287E"/>
                </a:solidFill>
                <a:latin typeface="Courier"/>
              </a:rPr>
              <a:t>gsub</a:t>
            </a:r>
            <a:r>
              <a:rPr>
                <a:latin typeface="Courier"/>
              </a:rPr>
              <a:t>(</a:t>
            </a:r>
            <a:r>
              <a:rPr>
                <a:solidFill>
                  <a:srgbClr val="4070A0"/>
                </a:solidFill>
                <a:latin typeface="Courier"/>
              </a:rPr>
              <a:t>"\\s+"</a:t>
            </a:r>
            <a:r>
              <a:rPr>
                <a:latin typeface="Courier"/>
              </a:rPr>
              <a:t>, </a:t>
            </a:r>
            <a:r>
              <a:rPr>
                <a:solidFill>
                  <a:srgbClr val="4070A0"/>
                </a:solidFill>
                <a:latin typeface="Courier"/>
              </a:rPr>
              <a:t>" "</a:t>
            </a:r>
            <a:r>
              <a:rPr>
                <a:latin typeface="Courier"/>
              </a:rPr>
              <a:t>, comments_clean)        </a:t>
            </a:r>
            <a:r>
              <a:rPr i="1">
                <a:solidFill>
                  <a:srgbClr val="60A0B0"/>
                </a:solidFill>
                <a:latin typeface="Courier"/>
              </a:rPr>
              <a:t># Réduire les espaces multiples</a:t>
            </a:r>
            <a:br/>
            <a:br/>
            <a:r>
              <a:rPr i="1">
                <a:solidFill>
                  <a:srgbClr val="60A0B0"/>
                </a:solidFill>
                <a:latin typeface="Courier"/>
              </a:rPr>
              <a:t># Séparer les mots</a:t>
            </a:r>
            <a:br/>
            <a:r>
              <a:rPr>
                <a:latin typeface="Courier"/>
              </a:rPr>
              <a:t>words </a:t>
            </a:r>
            <a:r>
              <a:rPr>
                <a:solidFill>
                  <a:srgbClr val="007020"/>
                </a:solidFill>
                <a:latin typeface="Courier"/>
              </a:rPr>
              <a:t>&lt;-</a:t>
            </a:r>
            <a:r>
              <a:rPr>
                <a:latin typeface="Courier"/>
              </a:rPr>
              <a:t> </a:t>
            </a:r>
            <a:r>
              <a:rPr>
                <a:solidFill>
                  <a:srgbClr val="06287E"/>
                </a:solidFill>
                <a:latin typeface="Courier"/>
              </a:rPr>
              <a:t>unlist</a:t>
            </a:r>
            <a:r>
              <a:rPr>
                <a:latin typeface="Courier"/>
              </a:rPr>
              <a:t>(</a:t>
            </a:r>
            <a:r>
              <a:rPr>
                <a:solidFill>
                  <a:srgbClr val="06287E"/>
                </a:solidFill>
                <a:latin typeface="Courier"/>
              </a:rPr>
              <a:t>strsplit</a:t>
            </a:r>
            <a:r>
              <a:rPr>
                <a:latin typeface="Courier"/>
              </a:rPr>
              <a:t>(comments_clean, </a:t>
            </a:r>
            <a:r>
              <a:rPr>
                <a:solidFill>
                  <a:srgbClr val="4070A0"/>
                </a:solidFill>
                <a:latin typeface="Courier"/>
              </a:rPr>
              <a:t>" "</a:t>
            </a:r>
            <a:r>
              <a:rPr>
                <a:latin typeface="Courier"/>
              </a:rPr>
              <a:t>))</a:t>
            </a:r>
            <a:br/>
            <a:br/>
            <a:r>
              <a:rPr i="1">
                <a:solidFill>
                  <a:srgbClr val="60A0B0"/>
                </a:solidFill>
                <a:latin typeface="Courier"/>
              </a:rPr>
              <a:t># Vérifier qu'il y a des mots après séparation</a:t>
            </a:r>
            <a:br/>
            <a:r>
              <a:rPr b="1">
                <a:solidFill>
                  <a:srgbClr val="007020"/>
                </a:solidFill>
                <a:latin typeface="Courier"/>
              </a:rPr>
              <a:t>if</a:t>
            </a:r>
            <a:r>
              <a:rPr>
                <a:latin typeface="Courier"/>
              </a:rPr>
              <a:t>(</a:t>
            </a:r>
            <a:r>
              <a:rPr>
                <a:solidFill>
                  <a:srgbClr val="06287E"/>
                </a:solidFill>
                <a:latin typeface="Courier"/>
              </a:rPr>
              <a:t>length</a:t>
            </a:r>
            <a:r>
              <a:rPr>
                <a:latin typeface="Courier"/>
              </a:rPr>
              <a:t>(words) </a:t>
            </a:r>
            <a:r>
              <a:rPr>
                <a:solidFill>
                  <a:srgbClr val="4070A0"/>
                </a:solidFill>
                <a:latin typeface="Courier"/>
              </a:rPr>
              <a:t>==</a:t>
            </a:r>
            <a:r>
              <a:rPr>
                <a:latin typeface="Courier"/>
              </a:rPr>
              <a:t> </a:t>
            </a:r>
            <a:r>
              <a:rPr>
                <a:solidFill>
                  <a:srgbClr val="40A070"/>
                </a:solidFill>
                <a:latin typeface="Courier"/>
              </a:rPr>
              <a:t>0</a:t>
            </a:r>
            <a:r>
              <a:rPr>
                <a:latin typeface="Courier"/>
              </a:rPr>
              <a:t>) {</a:t>
            </a:r>
            <a:br/>
            <a:r>
              <a:rPr>
                <a:latin typeface="Courier"/>
              </a:rPr>
              <a:t>  </a:t>
            </a:r>
            <a:r>
              <a:rPr>
                <a:solidFill>
                  <a:srgbClr val="06287E"/>
                </a:solidFill>
                <a:latin typeface="Courier"/>
              </a:rPr>
              <a:t>stop</a:t>
            </a:r>
            <a:r>
              <a:rPr>
                <a:latin typeface="Courier"/>
              </a:rPr>
              <a:t>(</a:t>
            </a:r>
            <a:r>
              <a:rPr>
                <a:solidFill>
                  <a:srgbClr val="4070A0"/>
                </a:solidFill>
                <a:latin typeface="Courier"/>
              </a:rPr>
              <a:t>"Aucun mot trouvé dans les commentaires après nettoyage."</a:t>
            </a:r>
            <a:r>
              <a:rPr>
                <a:latin typeface="Courier"/>
              </a:rPr>
              <a:t>)</a:t>
            </a:r>
            <a:br/>
            <a:r>
              <a:rPr>
                <a:latin typeface="Courier"/>
              </a:rPr>
              <a:t>}</a:t>
            </a:r>
            <a:br/>
            <a:br/>
            <a:r>
              <a:rPr i="1">
                <a:solidFill>
                  <a:srgbClr val="60A0B0"/>
                </a:solidFill>
                <a:latin typeface="Courier"/>
              </a:rPr>
              <a:t># Liste des mots vides (stop words) en français</a:t>
            </a:r>
            <a:br/>
            <a:r>
              <a:rPr>
                <a:latin typeface="Courier"/>
              </a:rPr>
              <a:t>stop_words </a:t>
            </a:r>
            <a:r>
              <a:rPr>
                <a:solidFill>
                  <a:srgbClr val="007020"/>
                </a:solidFill>
                <a:latin typeface="Courier"/>
              </a:rPr>
              <a:t>&lt;-</a:t>
            </a:r>
            <a:r>
              <a:rPr>
                <a:latin typeface="Courier"/>
              </a:rPr>
              <a:t> </a:t>
            </a:r>
            <a:r>
              <a:rPr>
                <a:solidFill>
                  <a:srgbClr val="06287E"/>
                </a:solidFill>
                <a:latin typeface="Courier"/>
              </a:rPr>
              <a:t>c</a:t>
            </a:r>
            <a:r>
              <a:rPr>
                <a:latin typeface="Courier"/>
              </a:rPr>
              <a:t>(</a:t>
            </a:r>
            <a:r>
              <a:rPr>
                <a:solidFill>
                  <a:srgbClr val="4070A0"/>
                </a:solidFill>
                <a:latin typeface="Courier"/>
              </a:rPr>
              <a:t>"le"</a:t>
            </a:r>
            <a:r>
              <a:rPr>
                <a:latin typeface="Courier"/>
              </a:rPr>
              <a:t>, </a:t>
            </a:r>
            <a:r>
              <a:rPr>
                <a:solidFill>
                  <a:srgbClr val="4070A0"/>
                </a:solidFill>
                <a:latin typeface="Courier"/>
              </a:rPr>
              <a:t>"la"</a:t>
            </a:r>
            <a:r>
              <a:rPr>
                <a:latin typeface="Courier"/>
              </a:rPr>
              <a:t>, </a:t>
            </a:r>
            <a:r>
              <a:rPr>
                <a:solidFill>
                  <a:srgbClr val="4070A0"/>
                </a:solidFill>
                <a:latin typeface="Courier"/>
              </a:rPr>
              <a:t>"les"</a:t>
            </a:r>
            <a:r>
              <a:rPr>
                <a:latin typeface="Courier"/>
              </a:rPr>
              <a:t>, </a:t>
            </a:r>
            <a:r>
              <a:rPr>
                <a:solidFill>
                  <a:srgbClr val="4070A0"/>
                </a:solidFill>
                <a:latin typeface="Courier"/>
              </a:rPr>
              <a:t>"un"</a:t>
            </a:r>
            <a:r>
              <a:rPr>
                <a:latin typeface="Courier"/>
              </a:rPr>
              <a:t>, </a:t>
            </a:r>
            <a:r>
              <a:rPr>
                <a:solidFill>
                  <a:srgbClr val="4070A0"/>
                </a:solidFill>
                <a:latin typeface="Courier"/>
              </a:rPr>
              <a:t>"une"</a:t>
            </a:r>
            <a:r>
              <a:rPr>
                <a:latin typeface="Courier"/>
              </a:rPr>
              <a:t>, </a:t>
            </a:r>
            <a:r>
              <a:rPr>
                <a:solidFill>
                  <a:srgbClr val="4070A0"/>
                </a:solidFill>
                <a:latin typeface="Courier"/>
              </a:rPr>
              <a:t>"des"</a:t>
            </a:r>
            <a:r>
              <a:rPr>
                <a:latin typeface="Courier"/>
              </a:rPr>
              <a:t>, </a:t>
            </a:r>
            <a:r>
              <a:rPr>
                <a:solidFill>
                  <a:srgbClr val="4070A0"/>
                </a:solidFill>
                <a:latin typeface="Courier"/>
              </a:rPr>
              <a:t>"et"</a:t>
            </a:r>
            <a:r>
              <a:rPr>
                <a:latin typeface="Courier"/>
              </a:rPr>
              <a:t>, </a:t>
            </a:r>
            <a:r>
              <a:rPr>
                <a:solidFill>
                  <a:srgbClr val="4070A0"/>
                </a:solidFill>
                <a:latin typeface="Courier"/>
              </a:rPr>
              <a:t>"en"</a:t>
            </a:r>
            <a:r>
              <a:rPr>
                <a:latin typeface="Courier"/>
              </a:rPr>
              <a:t>, </a:t>
            </a:r>
            <a:br/>
            <a:r>
              <a:rPr>
                <a:latin typeface="Courier"/>
              </a:rPr>
              <a:t>                </a:t>
            </a:r>
            <a:r>
              <a:rPr>
                <a:solidFill>
                  <a:srgbClr val="4070A0"/>
                </a:solidFill>
                <a:latin typeface="Courier"/>
              </a:rPr>
              <a:t>"à"</a:t>
            </a:r>
            <a:r>
              <a:rPr>
                <a:latin typeface="Courier"/>
              </a:rPr>
              <a:t>, </a:t>
            </a:r>
            <a:r>
              <a:rPr>
                <a:solidFill>
                  <a:srgbClr val="4070A0"/>
                </a:solidFill>
                <a:latin typeface="Courier"/>
              </a:rPr>
              <a:t>"au"</a:t>
            </a:r>
            <a:r>
              <a:rPr>
                <a:latin typeface="Courier"/>
              </a:rPr>
              <a:t>, </a:t>
            </a:r>
            <a:r>
              <a:rPr>
                <a:solidFill>
                  <a:srgbClr val="4070A0"/>
                </a:solidFill>
                <a:latin typeface="Courier"/>
              </a:rPr>
              <a:t>"aux"</a:t>
            </a:r>
            <a:r>
              <a:rPr>
                <a:latin typeface="Courier"/>
              </a:rPr>
              <a:t>, </a:t>
            </a:r>
            <a:r>
              <a:rPr>
                <a:solidFill>
                  <a:srgbClr val="4070A0"/>
                </a:solidFill>
                <a:latin typeface="Courier"/>
              </a:rPr>
              <a:t>"du"</a:t>
            </a:r>
            <a:r>
              <a:rPr>
                <a:latin typeface="Courier"/>
              </a:rPr>
              <a:t>, </a:t>
            </a:r>
            <a:r>
              <a:rPr>
                <a:solidFill>
                  <a:srgbClr val="4070A0"/>
                </a:solidFill>
                <a:latin typeface="Courier"/>
              </a:rPr>
              <a:t>"de"</a:t>
            </a:r>
            <a:r>
              <a:rPr>
                <a:latin typeface="Courier"/>
              </a:rPr>
              <a:t>, </a:t>
            </a:r>
            <a:r>
              <a:rPr>
                <a:solidFill>
                  <a:srgbClr val="4070A0"/>
                </a:solidFill>
                <a:latin typeface="Courier"/>
              </a:rPr>
              <a:t>"dans"</a:t>
            </a:r>
            <a:r>
              <a:rPr>
                <a:latin typeface="Courier"/>
              </a:rPr>
              <a:t>, </a:t>
            </a:r>
            <a:r>
              <a:rPr>
                <a:solidFill>
                  <a:srgbClr val="4070A0"/>
                </a:solidFill>
                <a:latin typeface="Courier"/>
              </a:rPr>
              <a:t>"ce"</a:t>
            </a:r>
            <a:r>
              <a:rPr>
                <a:latin typeface="Courier"/>
              </a:rPr>
              <a:t>, </a:t>
            </a:r>
            <a:r>
              <a:rPr>
                <a:solidFill>
                  <a:srgbClr val="4070A0"/>
                </a:solidFill>
                <a:latin typeface="Courier"/>
              </a:rPr>
              <a:t>"cette"</a:t>
            </a:r>
            <a:r>
              <a:rPr>
                <a:latin typeface="Courier"/>
              </a:rPr>
              <a:t>,</a:t>
            </a:r>
            <a:br/>
            <a:r>
              <a:rPr>
                <a:latin typeface="Courier"/>
              </a:rPr>
              <a:t>                </a:t>
            </a:r>
            <a:r>
              <a:rPr>
                <a:solidFill>
                  <a:srgbClr val="4070A0"/>
                </a:solidFill>
                <a:latin typeface="Courier"/>
              </a:rPr>
              <a:t>"pour"</a:t>
            </a:r>
            <a:r>
              <a:rPr>
                <a:latin typeface="Courier"/>
              </a:rPr>
              <a:t>, </a:t>
            </a:r>
            <a:r>
              <a:rPr>
                <a:solidFill>
                  <a:srgbClr val="4070A0"/>
                </a:solidFill>
                <a:latin typeface="Courier"/>
              </a:rPr>
              <a:t>"par"</a:t>
            </a:r>
            <a:r>
              <a:rPr>
                <a:latin typeface="Courier"/>
              </a:rPr>
              <a:t>, </a:t>
            </a:r>
            <a:r>
              <a:rPr>
                <a:solidFill>
                  <a:srgbClr val="4070A0"/>
                </a:solidFill>
                <a:latin typeface="Courier"/>
              </a:rPr>
              <a:t>"avec"</a:t>
            </a:r>
            <a:r>
              <a:rPr>
                <a:latin typeface="Courier"/>
              </a:rPr>
              <a:t>, </a:t>
            </a:r>
            <a:r>
              <a:rPr>
                <a:solidFill>
                  <a:srgbClr val="4070A0"/>
                </a:solidFill>
                <a:latin typeface="Courier"/>
              </a:rPr>
              <a:t>"il"</a:t>
            </a:r>
            <a:r>
              <a:rPr>
                <a:latin typeface="Courier"/>
              </a:rPr>
              <a:t>, </a:t>
            </a:r>
            <a:r>
              <a:rPr>
                <a:solidFill>
                  <a:srgbClr val="4070A0"/>
                </a:solidFill>
                <a:latin typeface="Courier"/>
              </a:rPr>
              <a:t>"elle"</a:t>
            </a:r>
            <a:r>
              <a:rPr>
                <a:latin typeface="Courier"/>
              </a:rPr>
              <a:t>, </a:t>
            </a:r>
            <a:r>
              <a:rPr>
                <a:solidFill>
                  <a:srgbClr val="4070A0"/>
                </a:solidFill>
                <a:latin typeface="Courier"/>
              </a:rPr>
              <a:t>"on"</a:t>
            </a:r>
            <a:r>
              <a:rPr>
                <a:latin typeface="Courier"/>
              </a:rPr>
              <a:t>, </a:t>
            </a:r>
            <a:r>
              <a:rPr>
                <a:solidFill>
                  <a:srgbClr val="4070A0"/>
                </a:solidFill>
                <a:latin typeface="Courier"/>
              </a:rPr>
              <a:t>"nous"</a:t>
            </a:r>
            <a:r>
              <a:rPr>
                <a:latin typeface="Courier"/>
              </a:rPr>
              <a:t>, </a:t>
            </a:r>
            <a:br/>
            <a:r>
              <a:rPr>
                <a:latin typeface="Courier"/>
              </a:rPr>
              <a:t>                </a:t>
            </a:r>
            <a:r>
              <a:rPr>
                <a:solidFill>
                  <a:srgbClr val="4070A0"/>
                </a:solidFill>
                <a:latin typeface="Courier"/>
              </a:rPr>
              <a:t>"vous"</a:t>
            </a:r>
            <a:r>
              <a:rPr>
                <a:latin typeface="Courier"/>
              </a:rPr>
              <a:t>, </a:t>
            </a:r>
            <a:r>
              <a:rPr>
                <a:solidFill>
                  <a:srgbClr val="4070A0"/>
                </a:solidFill>
                <a:latin typeface="Courier"/>
              </a:rPr>
              <a:t>"ils"</a:t>
            </a:r>
            <a:r>
              <a:rPr>
                <a:latin typeface="Courier"/>
              </a:rPr>
              <a:t>, </a:t>
            </a:r>
            <a:r>
              <a:rPr>
                <a:solidFill>
                  <a:srgbClr val="4070A0"/>
                </a:solidFill>
                <a:latin typeface="Courier"/>
              </a:rPr>
              <a:t>"elles"</a:t>
            </a:r>
            <a:r>
              <a:rPr>
                <a:latin typeface="Courier"/>
              </a:rPr>
              <a:t>, </a:t>
            </a:r>
            <a:r>
              <a:rPr>
                <a:solidFill>
                  <a:srgbClr val="4070A0"/>
                </a:solidFill>
                <a:latin typeface="Courier"/>
              </a:rPr>
              <a:t>"que"</a:t>
            </a:r>
            <a:r>
              <a:rPr>
                <a:latin typeface="Courier"/>
              </a:rPr>
              <a:t>, </a:t>
            </a:r>
            <a:r>
              <a:rPr>
                <a:solidFill>
                  <a:srgbClr val="4070A0"/>
                </a:solidFill>
                <a:latin typeface="Courier"/>
              </a:rPr>
              <a:t>"qui"</a:t>
            </a:r>
            <a:r>
              <a:rPr>
                <a:latin typeface="Courier"/>
              </a:rPr>
              <a:t>, </a:t>
            </a:r>
            <a:r>
              <a:rPr>
                <a:solidFill>
                  <a:srgbClr val="4070A0"/>
                </a:solidFill>
                <a:latin typeface="Courier"/>
              </a:rPr>
              <a:t>"quoi"</a:t>
            </a:r>
            <a:r>
              <a:rPr>
                <a:latin typeface="Courier"/>
              </a:rPr>
              <a:t>, </a:t>
            </a:r>
            <a:r>
              <a:rPr>
                <a:solidFill>
                  <a:srgbClr val="4070A0"/>
                </a:solidFill>
                <a:latin typeface="Courier"/>
              </a:rPr>
              <a:t>"où"</a:t>
            </a:r>
            <a:r>
              <a:rPr>
                <a:latin typeface="Courier"/>
              </a:rPr>
              <a:t>,</a:t>
            </a:r>
            <a:br/>
            <a:r>
              <a:rPr>
                <a:latin typeface="Courier"/>
              </a:rPr>
              <a:t>                </a:t>
            </a:r>
            <a:r>
              <a:rPr>
                <a:solidFill>
                  <a:srgbClr val="4070A0"/>
                </a:solidFill>
                <a:latin typeface="Courier"/>
              </a:rPr>
              <a:t>"ne"</a:t>
            </a:r>
            <a:r>
              <a:rPr>
                <a:latin typeface="Courier"/>
              </a:rPr>
              <a:t>, </a:t>
            </a:r>
            <a:r>
              <a:rPr>
                <a:solidFill>
                  <a:srgbClr val="4070A0"/>
                </a:solidFill>
                <a:latin typeface="Courier"/>
              </a:rPr>
              <a:t>"pas"</a:t>
            </a:r>
            <a:r>
              <a:rPr>
                <a:latin typeface="Courier"/>
              </a:rPr>
              <a:t>, </a:t>
            </a:r>
            <a:r>
              <a:rPr>
                <a:solidFill>
                  <a:srgbClr val="4070A0"/>
                </a:solidFill>
                <a:latin typeface="Courier"/>
              </a:rPr>
              <a:t>"mais"</a:t>
            </a:r>
            <a:r>
              <a:rPr>
                <a:latin typeface="Courier"/>
              </a:rPr>
              <a:t>, </a:t>
            </a:r>
            <a:r>
              <a:rPr>
                <a:solidFill>
                  <a:srgbClr val="4070A0"/>
                </a:solidFill>
                <a:latin typeface="Courier"/>
              </a:rPr>
              <a:t>"ou"</a:t>
            </a:r>
            <a:r>
              <a:rPr>
                <a:latin typeface="Courier"/>
              </a:rPr>
              <a:t>, </a:t>
            </a:r>
            <a:r>
              <a:rPr>
                <a:solidFill>
                  <a:srgbClr val="4070A0"/>
                </a:solidFill>
                <a:latin typeface="Courier"/>
              </a:rPr>
              <a:t>"donc"</a:t>
            </a:r>
            <a:r>
              <a:rPr>
                <a:latin typeface="Courier"/>
              </a:rPr>
              <a:t>, </a:t>
            </a:r>
            <a:r>
              <a:rPr>
                <a:solidFill>
                  <a:srgbClr val="4070A0"/>
                </a:solidFill>
                <a:latin typeface="Courier"/>
              </a:rPr>
              <a:t>"car"</a:t>
            </a:r>
            <a:r>
              <a:rPr>
                <a:latin typeface="Courier"/>
              </a:rPr>
              <a:t>, </a:t>
            </a:r>
            <a:r>
              <a:rPr>
                <a:solidFill>
                  <a:srgbClr val="4070A0"/>
                </a:solidFill>
                <a:latin typeface="Courier"/>
              </a:rPr>
              <a:t>"ni"</a:t>
            </a:r>
            <a:r>
              <a:rPr>
                <a:latin typeface="Courier"/>
              </a:rPr>
              <a:t>, </a:t>
            </a:r>
            <a:br/>
            <a:r>
              <a:rPr>
                <a:latin typeface="Courier"/>
              </a:rPr>
              <a:t>                </a:t>
            </a:r>
            <a:r>
              <a:rPr>
                <a:solidFill>
                  <a:srgbClr val="4070A0"/>
                </a:solidFill>
                <a:latin typeface="Courier"/>
              </a:rPr>
              <a:t>"sont"</a:t>
            </a:r>
            <a:r>
              <a:rPr>
                <a:latin typeface="Courier"/>
              </a:rPr>
              <a:t>, </a:t>
            </a:r>
            <a:r>
              <a:rPr>
                <a:solidFill>
                  <a:srgbClr val="4070A0"/>
                </a:solidFill>
                <a:latin typeface="Courier"/>
              </a:rPr>
              <a:t>"ces"</a:t>
            </a:r>
            <a:r>
              <a:rPr>
                <a:latin typeface="Courier"/>
              </a:rPr>
              <a:t>, </a:t>
            </a:r>
            <a:r>
              <a:rPr>
                <a:solidFill>
                  <a:srgbClr val="4070A0"/>
                </a:solidFill>
                <a:latin typeface="Courier"/>
              </a:rPr>
              <a:t>"sa"</a:t>
            </a:r>
            <a:r>
              <a:rPr>
                <a:latin typeface="Courier"/>
              </a:rPr>
              <a:t>, </a:t>
            </a:r>
            <a:r>
              <a:rPr>
                <a:solidFill>
                  <a:srgbClr val="4070A0"/>
                </a:solidFill>
                <a:latin typeface="Courier"/>
              </a:rPr>
              <a:t>"son"</a:t>
            </a:r>
            <a:r>
              <a:rPr>
                <a:latin typeface="Courier"/>
              </a:rPr>
              <a:t>, </a:t>
            </a:r>
            <a:r>
              <a:rPr>
                <a:solidFill>
                  <a:srgbClr val="4070A0"/>
                </a:solidFill>
                <a:latin typeface="Courier"/>
              </a:rPr>
              <a:t>"ses"</a:t>
            </a:r>
            <a:r>
              <a:rPr>
                <a:latin typeface="Courier"/>
              </a:rPr>
              <a:t>, </a:t>
            </a:r>
            <a:r>
              <a:rPr>
                <a:solidFill>
                  <a:srgbClr val="4070A0"/>
                </a:solidFill>
                <a:latin typeface="Courier"/>
              </a:rPr>
              <a:t>"mon"</a:t>
            </a:r>
            <a:r>
              <a:rPr>
                <a:latin typeface="Courier"/>
              </a:rPr>
              <a:t>, </a:t>
            </a:r>
            <a:r>
              <a:rPr>
                <a:solidFill>
                  <a:srgbClr val="4070A0"/>
                </a:solidFill>
                <a:latin typeface="Courier"/>
              </a:rPr>
              <a:t>"ma"</a:t>
            </a:r>
            <a:r>
              <a:rPr>
                <a:latin typeface="Courier"/>
              </a:rPr>
              <a:t>, </a:t>
            </a:r>
            <a:r>
              <a:rPr>
                <a:solidFill>
                  <a:srgbClr val="4070A0"/>
                </a:solidFill>
                <a:latin typeface="Courier"/>
              </a:rPr>
              <a:t>"mes"</a:t>
            </a:r>
            <a:r>
              <a:rPr>
                <a:latin typeface="Courier"/>
              </a:rPr>
              <a:t>,</a:t>
            </a:r>
            <a:br/>
            <a:r>
              <a:rPr>
                <a:latin typeface="Courier"/>
              </a:rPr>
              <a:t>                </a:t>
            </a:r>
            <a:r>
              <a:rPr>
                <a:solidFill>
                  <a:srgbClr val="4070A0"/>
                </a:solidFill>
                <a:latin typeface="Courier"/>
              </a:rPr>
              <a:t>"ta"</a:t>
            </a:r>
            <a:r>
              <a:rPr>
                <a:latin typeface="Courier"/>
              </a:rPr>
              <a:t>, </a:t>
            </a:r>
            <a:r>
              <a:rPr>
                <a:solidFill>
                  <a:srgbClr val="4070A0"/>
                </a:solidFill>
                <a:latin typeface="Courier"/>
              </a:rPr>
              <a:t>"ton"</a:t>
            </a:r>
            <a:r>
              <a:rPr>
                <a:latin typeface="Courier"/>
              </a:rPr>
              <a:t>, </a:t>
            </a:r>
            <a:r>
              <a:rPr>
                <a:solidFill>
                  <a:srgbClr val="4070A0"/>
                </a:solidFill>
                <a:latin typeface="Courier"/>
              </a:rPr>
              <a:t>"tes"</a:t>
            </a:r>
            <a:r>
              <a:rPr>
                <a:latin typeface="Courier"/>
              </a:rPr>
              <a:t>, </a:t>
            </a:r>
            <a:r>
              <a:rPr>
                <a:solidFill>
                  <a:srgbClr val="4070A0"/>
                </a:solidFill>
                <a:latin typeface="Courier"/>
              </a:rPr>
              <a:t>"leur"</a:t>
            </a:r>
            <a:r>
              <a:rPr>
                <a:latin typeface="Courier"/>
              </a:rPr>
              <a:t>, </a:t>
            </a:r>
            <a:r>
              <a:rPr>
                <a:solidFill>
                  <a:srgbClr val="4070A0"/>
                </a:solidFill>
                <a:latin typeface="Courier"/>
              </a:rPr>
              <a:t>"leurs"</a:t>
            </a:r>
            <a:r>
              <a:rPr>
                <a:latin typeface="Courier"/>
              </a:rPr>
              <a:t>, </a:t>
            </a:r>
            <a:r>
              <a:rPr>
                <a:solidFill>
                  <a:srgbClr val="4070A0"/>
                </a:solidFill>
                <a:latin typeface="Courier"/>
              </a:rPr>
              <a:t>"même"</a:t>
            </a:r>
            <a:r>
              <a:rPr>
                <a:latin typeface="Courier"/>
              </a:rPr>
              <a:t>, </a:t>
            </a:r>
            <a:r>
              <a:rPr>
                <a:solidFill>
                  <a:srgbClr val="4070A0"/>
                </a:solidFill>
                <a:latin typeface="Courier"/>
              </a:rPr>
              <a:t>"être"</a:t>
            </a:r>
            <a:r>
              <a:rPr>
                <a:latin typeface="Courier"/>
              </a:rPr>
              <a:t>, </a:t>
            </a:r>
            <a:br/>
            <a:r>
              <a:rPr>
                <a:latin typeface="Courier"/>
              </a:rPr>
              <a:t>                </a:t>
            </a:r>
            <a:r>
              <a:rPr>
                <a:solidFill>
                  <a:srgbClr val="4070A0"/>
                </a:solidFill>
                <a:latin typeface="Courier"/>
              </a:rPr>
              <a:t>"avoir"</a:t>
            </a:r>
            <a:r>
              <a:rPr>
                <a:latin typeface="Courier"/>
              </a:rPr>
              <a:t>, </a:t>
            </a:r>
            <a:r>
              <a:rPr>
                <a:solidFill>
                  <a:srgbClr val="4070A0"/>
                </a:solidFill>
                <a:latin typeface="Courier"/>
              </a:rPr>
              <a:t>"faire"</a:t>
            </a:r>
            <a:r>
              <a:rPr>
                <a:latin typeface="Courier"/>
              </a:rPr>
              <a:t>, </a:t>
            </a:r>
            <a:r>
              <a:rPr>
                <a:solidFill>
                  <a:srgbClr val="4070A0"/>
                </a:solidFill>
                <a:latin typeface="Courier"/>
              </a:rPr>
              <a:t>"ceci"</a:t>
            </a:r>
            <a:r>
              <a:rPr>
                <a:latin typeface="Courier"/>
              </a:rPr>
              <a:t>, </a:t>
            </a:r>
            <a:r>
              <a:rPr>
                <a:solidFill>
                  <a:srgbClr val="4070A0"/>
                </a:solidFill>
                <a:latin typeface="Courier"/>
              </a:rPr>
              <a:t>"cela"</a:t>
            </a:r>
            <a:r>
              <a:rPr>
                <a:latin typeface="Courier"/>
              </a:rPr>
              <a:t>, </a:t>
            </a:r>
            <a:r>
              <a:rPr>
                <a:solidFill>
                  <a:srgbClr val="4070A0"/>
                </a:solidFill>
                <a:latin typeface="Courier"/>
              </a:rPr>
              <a:t>"ça"</a:t>
            </a:r>
            <a:r>
              <a:rPr>
                <a:latin typeface="Courier"/>
              </a:rPr>
              <a:t>, </a:t>
            </a:r>
            <a:r>
              <a:rPr>
                <a:solidFill>
                  <a:srgbClr val="4070A0"/>
                </a:solidFill>
                <a:latin typeface="Courier"/>
              </a:rPr>
              <a:t>"série"</a:t>
            </a:r>
            <a:r>
              <a:rPr>
                <a:latin typeface="Courier"/>
              </a:rPr>
              <a:t>, </a:t>
            </a:r>
            <a:r>
              <a:rPr>
                <a:solidFill>
                  <a:srgbClr val="4070A0"/>
                </a:solidFill>
                <a:latin typeface="Courier"/>
              </a:rPr>
              <a:t>"film"</a:t>
            </a:r>
            <a:r>
              <a:rPr>
                <a:latin typeface="Courier"/>
              </a:rPr>
              <a:t>, </a:t>
            </a:r>
            <a:r>
              <a:rPr>
                <a:solidFill>
                  <a:srgbClr val="4070A0"/>
                </a:solidFill>
                <a:latin typeface="Courier"/>
              </a:rPr>
              <a:t>"tout"</a:t>
            </a:r>
            <a:r>
              <a:rPr>
                <a:latin typeface="Courier"/>
              </a:rPr>
              <a:t>, </a:t>
            </a:r>
            <a:r>
              <a:rPr>
                <a:solidFill>
                  <a:srgbClr val="4070A0"/>
                </a:solidFill>
                <a:latin typeface="Courier"/>
              </a:rPr>
              <a:t>"plus"</a:t>
            </a:r>
            <a:r>
              <a:rPr>
                <a:latin typeface="Courier"/>
              </a:rPr>
              <a:t>, </a:t>
            </a:r>
            <a:r>
              <a:rPr>
                <a:solidFill>
                  <a:srgbClr val="4070A0"/>
                </a:solidFill>
                <a:latin typeface="Courier"/>
              </a:rPr>
              <a:t>"est"</a:t>
            </a:r>
            <a:r>
              <a:rPr>
                <a:latin typeface="Courier"/>
              </a:rPr>
              <a:t>, </a:t>
            </a:r>
            <a:r>
              <a:rPr>
                <a:solidFill>
                  <a:srgbClr val="4070A0"/>
                </a:solidFill>
                <a:latin typeface="Courier"/>
              </a:rPr>
              <a:t>"je"</a:t>
            </a:r>
            <a:r>
              <a:rPr>
                <a:latin typeface="Courier"/>
              </a:rPr>
              <a:t>, </a:t>
            </a:r>
            <a:r>
              <a:rPr>
                <a:solidFill>
                  <a:srgbClr val="4070A0"/>
                </a:solidFill>
                <a:latin typeface="Courier"/>
              </a:rPr>
              <a:t>"lui"</a:t>
            </a:r>
            <a:r>
              <a:rPr>
                <a:latin typeface="Courier"/>
              </a:rPr>
              <a:t>, </a:t>
            </a:r>
            <a:r>
              <a:rPr>
                <a:solidFill>
                  <a:srgbClr val="4070A0"/>
                </a:solidFill>
                <a:latin typeface="Courier"/>
              </a:rPr>
              <a:t>"l"</a:t>
            </a:r>
            <a:r>
              <a:rPr>
                <a:latin typeface="Courier"/>
              </a:rPr>
              <a:t>, </a:t>
            </a:r>
            <a:r>
              <a:rPr>
                <a:solidFill>
                  <a:srgbClr val="4070A0"/>
                </a:solidFill>
                <a:latin typeface="Courier"/>
              </a:rPr>
              <a:t>"d"</a:t>
            </a:r>
            <a:r>
              <a:rPr>
                <a:latin typeface="Courier"/>
              </a:rPr>
              <a:t>)</a:t>
            </a:r>
            <a:br/>
            <a:br/>
            <a:r>
              <a:rPr i="1">
                <a:solidFill>
                  <a:srgbClr val="60A0B0"/>
                </a:solidFill>
                <a:latin typeface="Courier"/>
              </a:rPr>
              <a:t># Retirer les mots vides</a:t>
            </a:r>
            <a:br/>
            <a:r>
              <a:rPr>
                <a:latin typeface="Courier"/>
              </a:rPr>
              <a:t>words </a:t>
            </a:r>
            <a:r>
              <a:rPr>
                <a:solidFill>
                  <a:srgbClr val="007020"/>
                </a:solidFill>
                <a:latin typeface="Courier"/>
              </a:rPr>
              <a:t>&lt;-</a:t>
            </a:r>
            <a:r>
              <a:rPr>
                <a:latin typeface="Courier"/>
              </a:rPr>
              <a:t> words[</a:t>
            </a:r>
            <a:r>
              <a:rPr>
                <a:solidFill>
                  <a:srgbClr val="4070A0"/>
                </a:solidFill>
                <a:latin typeface="Courier"/>
              </a:rPr>
              <a:t>!</a:t>
            </a:r>
            <a:r>
              <a:rPr>
                <a:latin typeface="Courier"/>
              </a:rPr>
              <a:t>(words </a:t>
            </a:r>
            <a:r>
              <a:rPr>
                <a:solidFill>
                  <a:srgbClr val="4070A0"/>
                </a:solidFill>
                <a:latin typeface="Courier"/>
              </a:rPr>
              <a:t>%in%</a:t>
            </a:r>
            <a:r>
              <a:rPr>
                <a:latin typeface="Courier"/>
              </a:rPr>
              <a:t> stop_words)]</a:t>
            </a:r>
            <a:br/>
            <a:br/>
            <a:r>
              <a:rPr i="1">
                <a:solidFill>
                  <a:srgbClr val="60A0B0"/>
                </a:solidFill>
                <a:latin typeface="Courier"/>
              </a:rPr>
              <a:t># Vérifier si, après nettoyage, il reste des mots</a:t>
            </a:r>
            <a:br/>
            <a:r>
              <a:rPr b="1">
                <a:solidFill>
                  <a:srgbClr val="007020"/>
                </a:solidFill>
                <a:latin typeface="Courier"/>
              </a:rPr>
              <a:t>if</a:t>
            </a:r>
            <a:r>
              <a:rPr>
                <a:latin typeface="Courier"/>
              </a:rPr>
              <a:t>(</a:t>
            </a:r>
            <a:r>
              <a:rPr>
                <a:solidFill>
                  <a:srgbClr val="06287E"/>
                </a:solidFill>
                <a:latin typeface="Courier"/>
              </a:rPr>
              <a:t>length</a:t>
            </a:r>
            <a:r>
              <a:rPr>
                <a:latin typeface="Courier"/>
              </a:rPr>
              <a:t>(words) </a:t>
            </a:r>
            <a:r>
              <a:rPr>
                <a:solidFill>
                  <a:srgbClr val="4070A0"/>
                </a:solidFill>
                <a:latin typeface="Courier"/>
              </a:rPr>
              <a:t>==</a:t>
            </a:r>
            <a:r>
              <a:rPr>
                <a:latin typeface="Courier"/>
              </a:rPr>
              <a:t> </a:t>
            </a:r>
            <a:r>
              <a:rPr>
                <a:solidFill>
                  <a:srgbClr val="40A070"/>
                </a:solidFill>
                <a:latin typeface="Courier"/>
              </a:rPr>
              <a:t>0</a:t>
            </a:r>
            <a:r>
              <a:rPr>
                <a:latin typeface="Courier"/>
              </a:rPr>
              <a:t>) {</a:t>
            </a:r>
            <a:br/>
            <a:r>
              <a:rPr>
                <a:latin typeface="Courier"/>
              </a:rPr>
              <a:t>  </a:t>
            </a:r>
            <a:r>
              <a:rPr>
                <a:solidFill>
                  <a:srgbClr val="06287E"/>
                </a:solidFill>
                <a:latin typeface="Courier"/>
              </a:rPr>
              <a:t>stop</a:t>
            </a:r>
            <a:r>
              <a:rPr>
                <a:latin typeface="Courier"/>
              </a:rPr>
              <a:t>(</a:t>
            </a:r>
            <a:r>
              <a:rPr>
                <a:solidFill>
                  <a:srgbClr val="4070A0"/>
                </a:solidFill>
                <a:latin typeface="Courier"/>
              </a:rPr>
              <a:t>"Aucun mot après retrait des mots vides."</a:t>
            </a:r>
            <a:r>
              <a:rPr>
                <a:latin typeface="Courier"/>
              </a:rPr>
              <a:t>)</a:t>
            </a:r>
            <a:br/>
            <a:r>
              <a:rPr>
                <a:latin typeface="Courier"/>
              </a:rPr>
              <a:t>}</a:t>
            </a:r>
            <a:br/>
            <a:br/>
            <a:r>
              <a:rPr i="1">
                <a:solidFill>
                  <a:srgbClr val="60A0B0"/>
                </a:solidFill>
                <a:latin typeface="Courier"/>
              </a:rPr>
              <a:t># Calculer la fréquence des mots</a:t>
            </a:r>
            <a:br/>
            <a:r>
              <a:rPr>
                <a:latin typeface="Courier"/>
              </a:rPr>
              <a:t>word_freq </a:t>
            </a:r>
            <a:r>
              <a:rPr>
                <a:solidFill>
                  <a:srgbClr val="007020"/>
                </a:solidFill>
                <a:latin typeface="Courier"/>
              </a:rPr>
              <a:t>&lt;-</a:t>
            </a:r>
            <a:r>
              <a:rPr>
                <a:latin typeface="Courier"/>
              </a:rPr>
              <a:t> </a:t>
            </a:r>
            <a:r>
              <a:rPr>
                <a:solidFill>
                  <a:srgbClr val="06287E"/>
                </a:solidFill>
                <a:latin typeface="Courier"/>
              </a:rPr>
              <a:t>table</a:t>
            </a:r>
            <a:r>
              <a:rPr>
                <a:latin typeface="Courier"/>
              </a:rPr>
              <a:t>(words)</a:t>
            </a:r>
            <a:br/>
            <a:br/>
            <a:r>
              <a:rPr i="1">
                <a:solidFill>
                  <a:srgbClr val="60A0B0"/>
                </a:solidFill>
                <a:latin typeface="Courier"/>
              </a:rPr>
              <a:t># Vérifier si le tableau des fréquences est vide</a:t>
            </a:r>
            <a:br/>
            <a:r>
              <a:rPr b="1">
                <a:solidFill>
                  <a:srgbClr val="007020"/>
                </a:solidFill>
                <a:latin typeface="Courier"/>
              </a:rPr>
              <a:t>if</a:t>
            </a:r>
            <a:r>
              <a:rPr>
                <a:latin typeface="Courier"/>
              </a:rPr>
              <a:t>(</a:t>
            </a:r>
            <a:r>
              <a:rPr>
                <a:solidFill>
                  <a:srgbClr val="06287E"/>
                </a:solidFill>
                <a:latin typeface="Courier"/>
              </a:rPr>
              <a:t>length</a:t>
            </a:r>
            <a:r>
              <a:rPr>
                <a:latin typeface="Courier"/>
              </a:rPr>
              <a:t>(word_freq) </a:t>
            </a:r>
            <a:r>
              <a:rPr>
                <a:solidFill>
                  <a:srgbClr val="4070A0"/>
                </a:solidFill>
                <a:latin typeface="Courier"/>
              </a:rPr>
              <a:t>==</a:t>
            </a:r>
            <a:r>
              <a:rPr>
                <a:latin typeface="Courier"/>
              </a:rPr>
              <a:t> </a:t>
            </a:r>
            <a:r>
              <a:rPr>
                <a:solidFill>
                  <a:srgbClr val="40A070"/>
                </a:solidFill>
                <a:latin typeface="Courier"/>
              </a:rPr>
              <a:t>0</a:t>
            </a:r>
            <a:r>
              <a:rPr>
                <a:latin typeface="Courier"/>
              </a:rPr>
              <a:t>) {</a:t>
            </a:r>
            <a:br/>
            <a:r>
              <a:rPr>
                <a:latin typeface="Courier"/>
              </a:rPr>
              <a:t>  </a:t>
            </a:r>
            <a:r>
              <a:rPr>
                <a:solidFill>
                  <a:srgbClr val="06287E"/>
                </a:solidFill>
                <a:latin typeface="Courier"/>
              </a:rPr>
              <a:t>stop</a:t>
            </a:r>
            <a:r>
              <a:rPr>
                <a:latin typeface="Courier"/>
              </a:rPr>
              <a:t>(</a:t>
            </a:r>
            <a:r>
              <a:rPr>
                <a:solidFill>
                  <a:srgbClr val="4070A0"/>
                </a:solidFill>
                <a:latin typeface="Courier"/>
              </a:rPr>
              <a:t>"Aucune fréquence calculée. Le tableau est vide."</a:t>
            </a:r>
            <a:r>
              <a:rPr>
                <a:latin typeface="Courier"/>
              </a:rPr>
              <a:t>)</a:t>
            </a:r>
            <a:br/>
            <a:r>
              <a:rPr>
                <a:latin typeface="Courier"/>
              </a:rPr>
              <a:t>}</a:t>
            </a:r>
            <a:br/>
            <a:br/>
            <a:r>
              <a:rPr i="1">
                <a:solidFill>
                  <a:srgbClr val="60A0B0"/>
                </a:solidFill>
                <a:latin typeface="Courier"/>
              </a:rPr>
              <a:t># Créer un data frame à partir des fréquences</a:t>
            </a:r>
            <a:br/>
            <a:r>
              <a:rPr>
                <a:latin typeface="Courier"/>
              </a:rPr>
              <a:t>word_freq_df </a:t>
            </a:r>
            <a:r>
              <a:rPr>
                <a:solidFill>
                  <a:srgbClr val="007020"/>
                </a:solidFill>
                <a:latin typeface="Courier"/>
              </a:rPr>
              <a:t>&lt;-</a:t>
            </a:r>
            <a:r>
              <a:rPr>
                <a:latin typeface="Courier"/>
              </a:rPr>
              <a:t> </a:t>
            </a:r>
            <a:r>
              <a:rPr>
                <a:solidFill>
                  <a:srgbClr val="06287E"/>
                </a:solidFill>
                <a:latin typeface="Courier"/>
              </a:rPr>
              <a:t>data.frame</a:t>
            </a:r>
            <a:r>
              <a:rPr>
                <a:latin typeface="Courier"/>
              </a:rPr>
              <a:t>(</a:t>
            </a:r>
            <a:br/>
            <a:r>
              <a:rPr>
                <a:latin typeface="Courier"/>
              </a:rPr>
              <a:t>  </a:t>
            </a:r>
            <a:r>
              <a:rPr>
                <a:solidFill>
                  <a:srgbClr val="7D9029"/>
                </a:solidFill>
                <a:latin typeface="Courier"/>
              </a:rPr>
              <a:t>word =</a:t>
            </a:r>
            <a:r>
              <a:rPr>
                <a:latin typeface="Courier"/>
              </a:rPr>
              <a:t> </a:t>
            </a:r>
            <a:r>
              <a:rPr>
                <a:solidFill>
                  <a:srgbClr val="06287E"/>
                </a:solidFill>
                <a:latin typeface="Courier"/>
              </a:rPr>
              <a:t>names</a:t>
            </a:r>
            <a:r>
              <a:rPr>
                <a:latin typeface="Courier"/>
              </a:rPr>
              <a:t>(word_freq),</a:t>
            </a:r>
            <a:br/>
            <a:r>
              <a:rPr>
                <a:latin typeface="Courier"/>
              </a:rPr>
              <a:t>  </a:t>
            </a:r>
            <a:r>
              <a:rPr>
                <a:solidFill>
                  <a:srgbClr val="7D9029"/>
                </a:solidFill>
                <a:latin typeface="Courier"/>
              </a:rPr>
              <a:t>freq =</a:t>
            </a:r>
            <a:r>
              <a:rPr>
                <a:latin typeface="Courier"/>
              </a:rPr>
              <a:t> </a:t>
            </a:r>
            <a:r>
              <a:rPr>
                <a:solidFill>
                  <a:srgbClr val="06287E"/>
                </a:solidFill>
                <a:latin typeface="Courier"/>
              </a:rPr>
              <a:t>as.integer</a:t>
            </a:r>
            <a:r>
              <a:rPr>
                <a:latin typeface="Courier"/>
              </a:rPr>
              <a:t>(word_freq)</a:t>
            </a:r>
            <a:br/>
            <a:r>
              <a:rPr>
                <a:latin typeface="Courier"/>
              </a:rPr>
              <a:t>)</a:t>
            </a:r>
            <a:br/>
            <a:br/>
            <a:r>
              <a:rPr i="1">
                <a:solidFill>
                  <a:srgbClr val="60A0B0"/>
                </a:solidFill>
                <a:latin typeface="Courier"/>
              </a:rPr>
              <a:t># Retirer les mots vides supplémentaires ou non valides (par exemple, les blancs)</a:t>
            </a:r>
            <a:br/>
            <a:r>
              <a:rPr>
                <a:latin typeface="Courier"/>
              </a:rPr>
              <a:t>word_freq_df </a:t>
            </a:r>
            <a:r>
              <a:rPr>
                <a:solidFill>
                  <a:srgbClr val="007020"/>
                </a:solidFill>
                <a:latin typeface="Courier"/>
              </a:rPr>
              <a:t>&lt;-</a:t>
            </a:r>
            <a:r>
              <a:rPr>
                <a:latin typeface="Courier"/>
              </a:rPr>
              <a:t> word_freq_df[word_freq_df</a:t>
            </a:r>
            <a:r>
              <a:rPr>
                <a:solidFill>
                  <a:srgbClr val="4070A0"/>
                </a:solidFill>
                <a:latin typeface="Courier"/>
              </a:rPr>
              <a:t>$</a:t>
            </a:r>
            <a:r>
              <a:rPr>
                <a:latin typeface="Courier"/>
              </a:rPr>
              <a:t>freq </a:t>
            </a:r>
            <a:r>
              <a:rPr>
                <a:solidFill>
                  <a:srgbClr val="4070A0"/>
                </a:solidFill>
                <a:latin typeface="Courier"/>
              </a:rPr>
              <a:t>&gt;</a:t>
            </a:r>
            <a:r>
              <a:rPr>
                <a:latin typeface="Courier"/>
              </a:rPr>
              <a:t> </a:t>
            </a:r>
            <a:r>
              <a:rPr>
                <a:solidFill>
                  <a:srgbClr val="40A070"/>
                </a:solidFill>
                <a:latin typeface="Courier"/>
              </a:rPr>
              <a:t>0</a:t>
            </a:r>
            <a:r>
              <a:rPr>
                <a:latin typeface="Courier"/>
              </a:rPr>
              <a:t>, ]</a:t>
            </a:r>
            <a:br/>
            <a:br/>
            <a:r>
              <a:rPr i="1">
                <a:solidFill>
                  <a:srgbClr val="60A0B0"/>
                </a:solidFill>
                <a:latin typeface="Courier"/>
              </a:rPr>
              <a:t># Vérifier les premiers résultats</a:t>
            </a:r>
            <a:br/>
            <a:r>
              <a:rPr>
                <a:solidFill>
                  <a:srgbClr val="06287E"/>
                </a:solidFill>
                <a:latin typeface="Courier"/>
              </a:rPr>
              <a:t>head</a:t>
            </a:r>
            <a:r>
              <a:rPr>
                <a:latin typeface="Courier"/>
              </a:rPr>
              <a:t>(word_freq_df)</a:t>
            </a:r>
          </a:p>
          <a:p>
            <a:pPr lvl="0" indent="0">
              <a:buNone/>
            </a:pPr>
            <a:r>
              <a:rPr>
                <a:latin typeface="Courier"/>
              </a:rPr>
              <a:t>##         word freq
## 1          a    2
## 2      aaron    1
## 3       abri    1
## 4 absolument    1
## 5     acteur    1
## 6    acteurs    2</a:t>
            </a:r>
          </a:p>
          <a:p>
            <a:pPr lvl="0" indent="0">
              <a:buNone/>
            </a:pPr>
            <a:r>
              <a:rPr i="1">
                <a:solidFill>
                  <a:srgbClr val="60A0B0"/>
                </a:solidFill>
                <a:latin typeface="Courier"/>
              </a:rPr>
              <a:t># Si des mots sont trouvés, générer le nuage de mots</a:t>
            </a:r>
            <a:br/>
            <a:r>
              <a:rPr b="1">
                <a:solidFill>
                  <a:srgbClr val="007020"/>
                </a:solidFill>
                <a:latin typeface="Courier"/>
              </a:rPr>
              <a:t>if</a:t>
            </a:r>
            <a:r>
              <a:rPr>
                <a:latin typeface="Courier"/>
              </a:rPr>
              <a:t>(</a:t>
            </a:r>
            <a:r>
              <a:rPr>
                <a:solidFill>
                  <a:srgbClr val="06287E"/>
                </a:solidFill>
                <a:latin typeface="Courier"/>
              </a:rPr>
              <a:t>nrow</a:t>
            </a:r>
            <a:r>
              <a:rPr>
                <a:latin typeface="Courier"/>
              </a:rPr>
              <a:t>(word_freq_df) </a:t>
            </a:r>
            <a:r>
              <a:rPr>
                <a:solidFill>
                  <a:srgbClr val="4070A0"/>
                </a:solidFill>
                <a:latin typeface="Courier"/>
              </a:rPr>
              <a:t>&gt;</a:t>
            </a:r>
            <a:r>
              <a:rPr>
                <a:latin typeface="Courier"/>
              </a:rPr>
              <a:t> </a:t>
            </a:r>
            <a:r>
              <a:rPr>
                <a:solidFill>
                  <a:srgbClr val="40A070"/>
                </a:solidFill>
                <a:latin typeface="Courier"/>
              </a:rPr>
              <a:t>0</a:t>
            </a:r>
            <a:r>
              <a:rPr>
                <a:latin typeface="Courier"/>
              </a:rPr>
              <a:t>) {</a:t>
            </a:r>
            <a:br/>
            <a:r>
              <a:rPr>
                <a:latin typeface="Courier"/>
              </a:rPr>
              <a:t>  </a:t>
            </a:r>
            <a:r>
              <a:rPr>
                <a:solidFill>
                  <a:srgbClr val="06287E"/>
                </a:solidFill>
                <a:latin typeface="Courier"/>
              </a:rPr>
              <a:t>set.seed</a:t>
            </a:r>
            <a:r>
              <a:rPr>
                <a:latin typeface="Courier"/>
              </a:rPr>
              <a:t>(</a:t>
            </a:r>
            <a:r>
              <a:rPr>
                <a:solidFill>
                  <a:srgbClr val="40A070"/>
                </a:solidFill>
                <a:latin typeface="Courier"/>
              </a:rPr>
              <a:t>123</a:t>
            </a:r>
            <a:r>
              <a:rPr>
                <a:latin typeface="Courier"/>
              </a:rPr>
              <a:t>)  </a:t>
            </a:r>
            <a:r>
              <a:rPr i="1">
                <a:solidFill>
                  <a:srgbClr val="60A0B0"/>
                </a:solidFill>
                <a:latin typeface="Courier"/>
              </a:rPr>
              <a:t># Pour des résultats reproductibles</a:t>
            </a:r>
            <a:br/>
            <a:r>
              <a:rPr>
                <a:latin typeface="Courier"/>
              </a:rPr>
              <a:t>  </a:t>
            </a:r>
            <a:r>
              <a:rPr>
                <a:solidFill>
                  <a:srgbClr val="06287E"/>
                </a:solidFill>
                <a:latin typeface="Courier"/>
              </a:rPr>
              <a:t>wordcloud</a:t>
            </a:r>
            <a:r>
              <a:rPr>
                <a:latin typeface="Courier"/>
              </a:rPr>
              <a:t>(</a:t>
            </a:r>
            <a:br/>
            <a:r>
              <a:rPr>
                <a:latin typeface="Courier"/>
              </a:rPr>
              <a:t>    </a:t>
            </a:r>
            <a:r>
              <a:rPr>
                <a:solidFill>
                  <a:srgbClr val="7D9029"/>
                </a:solidFill>
                <a:latin typeface="Courier"/>
              </a:rPr>
              <a:t>words =</a:t>
            </a:r>
            <a:r>
              <a:rPr>
                <a:latin typeface="Courier"/>
              </a:rPr>
              <a:t> word_freq_df</a:t>
            </a:r>
            <a:r>
              <a:rPr>
                <a:solidFill>
                  <a:srgbClr val="4070A0"/>
                </a:solidFill>
                <a:latin typeface="Courier"/>
              </a:rPr>
              <a:t>$</a:t>
            </a:r>
            <a:r>
              <a:rPr>
                <a:latin typeface="Courier"/>
              </a:rPr>
              <a:t>word,</a:t>
            </a:r>
            <a:br/>
            <a:r>
              <a:rPr>
                <a:latin typeface="Courier"/>
              </a:rPr>
              <a:t>    </a:t>
            </a:r>
            <a:r>
              <a:rPr>
                <a:solidFill>
                  <a:srgbClr val="7D9029"/>
                </a:solidFill>
                <a:latin typeface="Courier"/>
              </a:rPr>
              <a:t>freq =</a:t>
            </a:r>
            <a:r>
              <a:rPr>
                <a:latin typeface="Courier"/>
              </a:rPr>
              <a:t> word_freq_df</a:t>
            </a:r>
            <a:r>
              <a:rPr>
                <a:solidFill>
                  <a:srgbClr val="4070A0"/>
                </a:solidFill>
                <a:latin typeface="Courier"/>
              </a:rPr>
              <a:t>$</a:t>
            </a:r>
            <a:r>
              <a:rPr>
                <a:latin typeface="Courier"/>
              </a:rPr>
              <a:t>freq,</a:t>
            </a:r>
            <a:br/>
            <a:r>
              <a:rPr>
                <a:latin typeface="Courier"/>
              </a:rPr>
              <a:t>    </a:t>
            </a:r>
            <a:r>
              <a:rPr>
                <a:solidFill>
                  <a:srgbClr val="7D9029"/>
                </a:solidFill>
                <a:latin typeface="Courier"/>
              </a:rPr>
              <a:t>min.freq =</a:t>
            </a:r>
            <a:r>
              <a:rPr>
                <a:latin typeface="Courier"/>
              </a:rPr>
              <a:t> </a:t>
            </a:r>
            <a:r>
              <a:rPr>
                <a:solidFill>
                  <a:srgbClr val="40A070"/>
                </a:solidFill>
                <a:latin typeface="Courier"/>
              </a:rPr>
              <a:t>2</a:t>
            </a:r>
            <a:r>
              <a:rPr>
                <a:latin typeface="Courier"/>
              </a:rPr>
              <a:t>,               </a:t>
            </a:r>
            <a:r>
              <a:rPr i="1">
                <a:solidFill>
                  <a:srgbClr val="60A0B0"/>
                </a:solidFill>
                <a:latin typeface="Courier"/>
              </a:rPr>
              <a:t># Afficher les mots avec une fréquence &gt;= 2</a:t>
            </a:r>
            <a:br/>
            <a:r>
              <a:rPr>
                <a:latin typeface="Courier"/>
              </a:rPr>
              <a:t>    </a:t>
            </a:r>
            <a:r>
              <a:rPr>
                <a:solidFill>
                  <a:srgbClr val="7D9029"/>
                </a:solidFill>
                <a:latin typeface="Courier"/>
              </a:rPr>
              <a:t>max.words =</a:t>
            </a:r>
            <a:r>
              <a:rPr>
                <a:latin typeface="Courier"/>
              </a:rPr>
              <a:t> </a:t>
            </a:r>
            <a:r>
              <a:rPr>
                <a:solidFill>
                  <a:srgbClr val="40A070"/>
                </a:solidFill>
                <a:latin typeface="Courier"/>
              </a:rPr>
              <a:t>100</a:t>
            </a:r>
            <a:r>
              <a:rPr>
                <a:latin typeface="Courier"/>
              </a:rPr>
              <a:t>,            </a:t>
            </a:r>
            <a:r>
              <a:rPr i="1">
                <a:solidFill>
                  <a:srgbClr val="60A0B0"/>
                </a:solidFill>
                <a:latin typeface="Courier"/>
              </a:rPr>
              <a:t># Nombre maximum de mots affichés</a:t>
            </a:r>
            <a:br/>
            <a:r>
              <a:rPr>
                <a:latin typeface="Courier"/>
              </a:rPr>
              <a:t>    </a:t>
            </a:r>
            <a:r>
              <a:rPr>
                <a:solidFill>
                  <a:srgbClr val="7D9029"/>
                </a:solidFill>
                <a:latin typeface="Courier"/>
              </a:rPr>
              <a:t>random.order =</a:t>
            </a:r>
            <a:r>
              <a:rPr>
                <a:latin typeface="Courier"/>
              </a:rPr>
              <a:t> </a:t>
            </a:r>
            <a:r>
              <a:rPr>
                <a:solidFill>
                  <a:srgbClr val="880000"/>
                </a:solidFill>
                <a:latin typeface="Courier"/>
              </a:rPr>
              <a:t>FALSE</a:t>
            </a:r>
            <a:r>
              <a:rPr>
                <a:latin typeface="Courier"/>
              </a:rPr>
              <a:t>,       </a:t>
            </a:r>
            <a:r>
              <a:rPr i="1">
                <a:solidFill>
                  <a:srgbClr val="60A0B0"/>
                </a:solidFill>
                <a:latin typeface="Courier"/>
              </a:rPr>
              <a:t># Afficher les mots les plus fréquents au centre</a:t>
            </a:r>
            <a:br/>
            <a:r>
              <a:rPr>
                <a:latin typeface="Courier"/>
              </a:rPr>
              <a:t>    </a:t>
            </a:r>
            <a:r>
              <a:rPr>
                <a:solidFill>
                  <a:srgbClr val="7D9029"/>
                </a:solidFill>
                <a:latin typeface="Courier"/>
              </a:rPr>
              <a:t>colors =</a:t>
            </a:r>
            <a:r>
              <a:rPr>
                <a:latin typeface="Courier"/>
              </a:rPr>
              <a:t> </a:t>
            </a:r>
            <a:r>
              <a:rPr>
                <a:solidFill>
                  <a:srgbClr val="06287E"/>
                </a:solidFill>
                <a:latin typeface="Courier"/>
              </a:rPr>
              <a:t>brewer.pal</a:t>
            </a:r>
            <a:r>
              <a:rPr>
                <a:latin typeface="Courier"/>
              </a:rPr>
              <a:t>(</a:t>
            </a:r>
            <a:r>
              <a:rPr>
                <a:solidFill>
                  <a:srgbClr val="40A070"/>
                </a:solidFill>
                <a:latin typeface="Courier"/>
              </a:rPr>
              <a:t>8</a:t>
            </a:r>
            <a:r>
              <a:rPr>
                <a:latin typeface="Courier"/>
              </a:rPr>
              <a:t>, </a:t>
            </a:r>
            <a:r>
              <a:rPr>
                <a:solidFill>
                  <a:srgbClr val="4070A0"/>
                </a:solidFill>
                <a:latin typeface="Courier"/>
              </a:rPr>
              <a:t>"Dark2"</a:t>
            </a:r>
            <a:r>
              <a:rPr>
                <a:latin typeface="Courier"/>
              </a:rPr>
              <a:t>)  </a:t>
            </a:r>
            <a:r>
              <a:rPr i="1">
                <a:solidFill>
                  <a:srgbClr val="60A0B0"/>
                </a:solidFill>
                <a:latin typeface="Courier"/>
              </a:rPr>
              <a:t># Palette de couleurs</a:t>
            </a:r>
            <a:br/>
            <a:r>
              <a:rPr>
                <a:latin typeface="Courier"/>
              </a:rPr>
              <a:t>  )</a:t>
            </a:r>
            <a:br/>
            <a:r>
              <a:rPr>
                <a:latin typeface="Courier"/>
              </a:rPr>
              <a:t>} </a:t>
            </a:r>
            <a:r>
              <a:rPr b="1">
                <a:solidFill>
                  <a:srgbClr val="007020"/>
                </a:solidFill>
                <a:latin typeface="Courier"/>
              </a:rPr>
              <a:t>else</a:t>
            </a:r>
            <a:r>
              <a:rPr>
                <a:latin typeface="Courier"/>
              </a:rPr>
              <a:t> {</a:t>
            </a:r>
            <a:br/>
            <a:r>
              <a:rPr>
                <a:latin typeface="Courier"/>
              </a:rPr>
              <a:t>  </a:t>
            </a:r>
            <a:r>
              <a:rPr>
                <a:solidFill>
                  <a:srgbClr val="06287E"/>
                </a:solidFill>
                <a:latin typeface="Courier"/>
              </a:rPr>
              <a:t>stop</a:t>
            </a:r>
            <a:r>
              <a:rPr>
                <a:latin typeface="Courier"/>
              </a:rPr>
              <a:t>(</a:t>
            </a:r>
            <a:r>
              <a:rPr>
                <a:solidFill>
                  <a:srgbClr val="4070A0"/>
                </a:solidFill>
                <a:latin typeface="Courier"/>
              </a:rPr>
              <a:t>"Aucun mot valable à afficher dans le nuage de mots."</a:t>
            </a:r>
            <a:r>
              <a:rPr>
                <a:latin typeface="Courier"/>
              </a:rPr>
              <a:t>)</a:t>
            </a:r>
            <a:br/>
            <a:r>
              <a:rPr>
                <a:latin typeface="Courier"/>
              </a:rPr>
              <a:t>}</a:t>
            </a:r>
          </a:p>
          <a:p>
            <a:pPr lvl="0" indent="0">
              <a:buNone/>
            </a:pPr>
            <a:r>
              <a:rPr>
                <a:latin typeface="Courier"/>
              </a:rPr>
              <a:t>## Warning in wordcloud(words = word_freq_df$word, freq = word_freq_df$freq, :
## brillamment could not be fit on page. It will not be plotted.</a:t>
            </a:r>
          </a:p>
          <a:p>
            <a:pPr lvl="0" indent="0">
              <a:buNone/>
            </a:pPr>
            <a:r>
              <a:rPr>
                <a:latin typeface="Courier"/>
              </a:rPr>
              <a:t>## Warning in wordcloud(words = word_freq_df$word, freq = word_freq_df$freq, :
## parfaitement could not be fit on page. It will not be plotted.</a:t>
            </a:r>
          </a:p>
          <a:p>
            <a:pPr lvl="0" indent="0">
              <a:buNone/>
            </a:pPr>
            <a:r>
              <a:rPr>
                <a:latin typeface="Courier"/>
              </a:rPr>
              <a:t>## Warning in wordcloud(words = word_freq_df$word, freq = word_freq_df$freq, :
## professeur could not be fit on page. It will not be plotted.</a:t>
            </a:r>
          </a:p>
          <a:p>
            <a:pPr lvl="0" indent="0">
              <a:buNone/>
            </a:pPr>
            <a:r>
              <a:rPr>
                <a:latin typeface="Courier"/>
              </a:rPr>
              <a:t>## Warning in wordcloud(words = word_freq_df$word, freq = word_freq_df$freq, :
## propose could not be fit on page. It will not be plotted.</a:t>
            </a:r>
          </a:p>
          <a:p>
            <a:pPr lvl="0" indent="0">
              <a:buNone/>
            </a:pPr>
            <a:r>
              <a:rPr>
                <a:latin typeface="Courier"/>
              </a:rPr>
              <a:t>## Warning in wordcloud(words = word_freq_df$word, freq = word_freq_df$freq, :
## scénaristique could not be fit on page. It will not be plotted.</a:t>
            </a:r>
          </a:p>
        </p:txBody>
      </p:sp>
      <p:pic>
        <p:nvPicPr>
          <p:cNvPr id="2" name="Picture 1" descr="1111111111_files/figure-pptx/unnamed-chunk-8-1.png"/>
          <p:cNvPicPr>
            <a:picLocks noGrp="1" noChangeAspect="1"/>
          </p:cNvPicPr>
          <p:nvPr/>
        </p:nvPicPr>
        <p:blipFill>
          <a:blip r:embed="rId2"/>
          <a:stretch>
            <a:fillRect/>
          </a:stretch>
        </p:blipFill>
        <p:spPr bwMode="auto">
          <a:xfrm>
            <a:off x="3568700" y="355600"/>
            <a:ext cx="5105400" cy="4089400"/>
          </a:xfrm>
          <a:prstGeom prst="rect">
            <a:avLst/>
          </a:prstGeom>
          <a:noFill/>
          <a:ln w="9525">
            <a:noFill/>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lvl="0" indent="0">
              <a:buNone/>
            </a:pPr>
            <a:endParaRPr/>
          </a:p>
          <a:p>
            <a:pPr marL="0" lvl="0" indent="0">
              <a:buNone/>
            </a:pPr>
            <a:r>
              <a:t>Ce nuage de mots illustre les termes les plus fréquemment mentionnés dans les commentaires, reflétant les thèmes et sujets dominants. Les mots “lire”, “saison”, “breaking”, et “bad” sont particulièrement mis en évidence, indiquant probablement des discussions centrées sur la série Breaking Bad et ses différentes saisons. Les noms “Walter”, “Gilligan”, et “Bryan” font référence aux acteurs et au créateur, suggérant leur importance dans les retours. Des mots comme “chimie”, “crystal”, et “labo” rappellent des éléments clés de l’intrigue de la série. Ce nuage de mots met en avant à la fois les aspects narratifs et la perception des spectateurs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Conclusion</a:t>
            </a:r>
          </a:p>
        </p:txBody>
      </p:sp>
      <p:sp>
        <p:nvSpPr>
          <p:cNvPr id="3" name="Content Placeholder 2"/>
          <p:cNvSpPr>
            <a:spLocks noGrp="1"/>
          </p:cNvSpPr>
          <p:nvPr>
            <p:ph idx="1"/>
          </p:nvPr>
        </p:nvSpPr>
        <p:spPr/>
        <p:txBody>
          <a:bodyPr/>
          <a:lstStyle/>
          <a:p>
            <a:pPr marL="0" lvl="0" indent="0">
              <a:buNone/>
            </a:pPr>
            <a:r>
              <a:t>En conclusion, cette étude a révélé les genres les plus représentés parmi les meilleures séries selon Allociné, avec une dominance notable des genres comme le drame et le fantastique. L’analyse des sentiments des spectateurs a mis en lumière une majorité d’avis positifs, témoignant de l’appréciation générale des séries étudiées. Les visualisations, comme les nuages de mots et les graphiques, ont permis d’identifier les thèmes récurrents et les émotions les plus associées aux séries populaires. Ces résultats offrent une meilleure compréhension des préférences des spectateurs et des tendances actuelles dans l’univers des séries télévisées.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8979</Words>
  <Application>Microsoft Office PowerPoint</Application>
  <PresentationFormat>Affichage à l'écran (16:9)</PresentationFormat>
  <Paragraphs>78</Paragraphs>
  <Slides>8</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8</vt:i4>
      </vt:variant>
    </vt:vector>
  </HeadingPairs>
  <TitlesOfParts>
    <vt:vector size="12" baseType="lpstr">
      <vt:lpstr>Arial</vt:lpstr>
      <vt:lpstr>Calibri</vt:lpstr>
      <vt:lpstr>Courier</vt:lpstr>
      <vt:lpstr>Office Theme</vt:lpstr>
      <vt:lpstr>Projet programmation</vt:lpstr>
      <vt:lpstr>Intitulé</vt:lpstr>
      <vt:lpstr>Objectif</vt:lpstr>
      <vt:lpstr>Méthodologie</vt:lpstr>
      <vt:lpstr>Présentation PowerPoint</vt:lpstr>
      <vt:lpstr>Présentation PowerPoint</vt:lpstr>
      <vt:lpstr>Présentation PowerPoint</vt:lpstr>
      <vt:lpstr>Conclusion</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Projet programmation</dc:title>
  <dc:creator>AL Hassane YOUM</dc:creator>
  <cp:keywords/>
  <cp:lastModifiedBy>AL Hassane YOUM</cp:lastModifiedBy>
  <cp:revision>1</cp:revision>
  <dcterms:created xsi:type="dcterms:W3CDTF">2025-01-13T20:11:17Z</dcterms:created>
  <dcterms:modified xsi:type="dcterms:W3CDTF">2025-01-13T20:21:42Z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2025-01-13</vt:lpwstr>
  </property>
  <property fmtid="{D5CDD505-2E9C-101B-9397-08002B2CF9AE}" pid="3" name="output">
    <vt:lpwstr/>
  </property>
</Properties>
</file>